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12192000" cy="89995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3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90EB89-0837-42C4-B3A2-DC5C87730512}">
  <a:tblStyle styleId="{F290EB89-0837-42C4-B3A2-DC5C877305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57" y="-72"/>
      </p:cViewPr>
      <p:guideLst>
        <p:guide orient="horz" pos="283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7ad6495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7ad6495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7ad64950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17ad64950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7ad64950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7ad64950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7ad6495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7ad64950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7ad64950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7ad649507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ad649507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ad649507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7ad649507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7ad649507_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7ad649507_5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7ad649507_5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7ad649507_5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17ad649507_5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17ad649507_5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17ad649507_5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7ad649507_5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17ad649507_5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7ad649507_5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17ad649507_5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7ad649507_5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17ad649507_5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14eab017b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14eab017b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14eab017b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14eab017b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14eab017b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14eab017b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14eab017b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14eab017b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4eab017b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4eab017b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7a6e32fb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17a6e32fb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14fb19ee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85800"/>
            <a:ext cx="4645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14fb19ee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74"/>
              <a:buFont typeface="Calibri"/>
              <a:buNone/>
              <a:defRPr sz="787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3150"/>
              <a:buNone/>
              <a:defRPr sz="3150"/>
            </a:lvl1pPr>
            <a:lvl2pPr lvl="1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None/>
              <a:defRPr sz="2625"/>
            </a:lvl2pPr>
            <a:lvl3pPr lvl="2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None/>
              <a:defRPr sz="2362"/>
            </a:lvl3pPr>
            <a:lvl4pPr lvl="3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4pPr>
            <a:lvl5pPr lvl="4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5pPr>
            <a:lvl6pPr lvl="5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6pPr>
            <a:lvl7pPr lvl="6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7pPr>
            <a:lvl8pPr lvl="7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8pPr>
            <a:lvl9pPr lvl="8" algn="ctr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74"/>
              <a:buFont typeface="Calibri"/>
              <a:buNone/>
              <a:defRPr sz="787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3150"/>
              <a:buNone/>
              <a:defRPr sz="31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None/>
              <a:defRPr sz="2625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None/>
              <a:defRPr sz="2362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2395710"/>
            <a:ext cx="5181600" cy="571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2395710"/>
            <a:ext cx="5181600" cy="571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3150"/>
              <a:buNone/>
              <a:defRPr sz="3150" b="1"/>
            </a:lvl1pPr>
            <a:lvl2pPr marL="914400" lvl="1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None/>
              <a:defRPr sz="2625" b="1"/>
            </a:lvl2pPr>
            <a:lvl3pPr marL="1371600" lvl="2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None/>
              <a:defRPr sz="2362" b="1"/>
            </a:lvl3pPr>
            <a:lvl4pPr marL="1828800" lvl="3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6pPr>
            <a:lvl7pPr marL="3200400" lvl="6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7pPr>
            <a:lvl8pPr marL="3657600" lvl="7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8pPr>
            <a:lvl9pPr marL="4114800" lvl="8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9" y="3287331"/>
            <a:ext cx="5157787" cy="483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1" y="2206137"/>
            <a:ext cx="5183188" cy="108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3150"/>
              <a:buNone/>
              <a:defRPr sz="3150" b="1"/>
            </a:lvl1pPr>
            <a:lvl2pPr marL="914400" lvl="1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None/>
              <a:defRPr sz="2625" b="1"/>
            </a:lvl2pPr>
            <a:lvl3pPr marL="1371600" lvl="2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None/>
              <a:defRPr sz="2362" b="1"/>
            </a:lvl3pPr>
            <a:lvl4pPr marL="1828800" lvl="3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6pPr>
            <a:lvl7pPr marL="3200400" lvl="6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7pPr>
            <a:lvl8pPr marL="3657600" lvl="7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8pPr>
            <a:lvl9pPr marL="4114800" lvl="8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1" y="3287331"/>
            <a:ext cx="5183188" cy="483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99"/>
              <a:buFont typeface="Calibri"/>
              <a:buNone/>
              <a:defRPr sz="41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1295769"/>
            <a:ext cx="6172200" cy="639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95236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4199"/>
              <a:buChar char="•"/>
              <a:defRPr sz="4199"/>
            </a:lvl1pPr>
            <a:lvl2pPr marL="914400" lvl="1" indent="-461899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3674"/>
              <a:buChar char="•"/>
              <a:defRPr sz="3674"/>
            </a:lvl2pPr>
            <a:lvl3pPr marL="1371600" lvl="2" indent="-428625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3150"/>
              <a:buChar char="•"/>
              <a:defRPr sz="3150"/>
            </a:lvl3pPr>
            <a:lvl4pPr marL="1828800" lvl="3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4pPr>
            <a:lvl5pPr marL="2286000" lvl="4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5pPr>
            <a:lvl6pPr marL="2743200" lvl="5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6pPr>
            <a:lvl7pPr marL="3200400" lvl="6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7pPr>
            <a:lvl8pPr marL="3657600" lvl="7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8pPr>
            <a:lvl9pPr marL="4114800" lvl="8" indent="-395287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Char char="•"/>
              <a:defRPr sz="2625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699862"/>
            <a:ext cx="3932237" cy="500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marL="914400" lvl="1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37"/>
              <a:buNone/>
              <a:defRPr sz="1837"/>
            </a:lvl2pPr>
            <a:lvl3pPr marL="1371600" lvl="2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575"/>
              <a:buNone/>
              <a:defRPr sz="1575"/>
            </a:lvl3pPr>
            <a:lvl4pPr marL="1828800" lvl="3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4pPr>
            <a:lvl5pPr marL="2286000" lvl="4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5pPr>
            <a:lvl6pPr marL="2743200" lvl="5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6pPr>
            <a:lvl7pPr marL="3200400" lvl="6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7pPr>
            <a:lvl8pPr marL="3657600" lvl="7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8pPr>
            <a:lvl9pPr marL="4114800" lvl="8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99"/>
              <a:buFont typeface="Calibri"/>
              <a:buNone/>
              <a:defRPr sz="41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1295769"/>
            <a:ext cx="6172200" cy="639550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699862"/>
            <a:ext cx="3932237" cy="500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marL="914400" lvl="1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37"/>
              <a:buNone/>
              <a:defRPr sz="1837"/>
            </a:lvl2pPr>
            <a:lvl3pPr marL="1371600" lvl="2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575"/>
              <a:buNone/>
              <a:defRPr sz="1575"/>
            </a:lvl3pPr>
            <a:lvl4pPr marL="1828800" lvl="3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4pPr>
            <a:lvl5pPr marL="2286000" lvl="4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5pPr>
            <a:lvl6pPr marL="2743200" lvl="5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6pPr>
            <a:lvl7pPr marL="3200400" lvl="6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7pPr>
            <a:lvl8pPr marL="3657600" lvl="7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8pPr>
            <a:lvl9pPr marL="4114800" lvl="8" indent="-2286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312"/>
              <a:buNone/>
              <a:defRPr sz="1312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240938" y="-7028"/>
            <a:ext cx="571012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6226005" y="2978038"/>
            <a:ext cx="7626692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892005" y="425338"/>
            <a:ext cx="762669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74"/>
              <a:buFont typeface="Georgia"/>
              <a:buNone/>
              <a:defRPr sz="5774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  <a:defRPr sz="18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61899" algn="l" rtl="0">
              <a:lnSpc>
                <a:spcPct val="90000"/>
              </a:lnSpc>
              <a:spcBef>
                <a:spcPts val="1312"/>
              </a:spcBef>
              <a:spcAft>
                <a:spcPts val="0"/>
              </a:spcAft>
              <a:buClr>
                <a:schemeClr val="lt1"/>
              </a:buClr>
              <a:buSzPts val="3674"/>
              <a:buFont typeface="Georgia"/>
              <a:buChar char="•"/>
              <a:defRPr sz="3674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28625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3150"/>
              <a:buFont typeface="Georgia"/>
              <a:buChar char="•"/>
              <a:defRPr sz="315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95287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625"/>
              <a:buFont typeface="Georgia"/>
              <a:buChar char="•"/>
              <a:defRPr sz="2625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78586" algn="l" rtl="0">
              <a:lnSpc>
                <a:spcPct val="90000"/>
              </a:lnSpc>
              <a:spcBef>
                <a:spcPts val="656"/>
              </a:spcBef>
              <a:spcAft>
                <a:spcPts val="0"/>
              </a:spcAft>
              <a:buClr>
                <a:schemeClr val="lt1"/>
              </a:buClr>
              <a:buSzPts val="2362"/>
              <a:buFont typeface="Georgia"/>
              <a:buChar char="•"/>
              <a:defRPr sz="2362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7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914400" y="670467"/>
            <a:ext cx="10363200" cy="3133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latin typeface="Arial"/>
                <a:ea typeface="Arial"/>
                <a:cs typeface="Arial"/>
                <a:sym typeface="Arial"/>
              </a:rPr>
              <a:t>2024년도 2학기</a:t>
            </a:r>
            <a:r>
              <a:rPr lang="en-US" sz="7174">
                <a:latin typeface="Arial"/>
                <a:ea typeface="Arial"/>
                <a:cs typeface="Arial"/>
                <a:sym typeface="Arial"/>
              </a:rPr>
              <a:t> </a:t>
            </a:r>
            <a:endParaRPr sz="5874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74">
                <a:latin typeface="Arial"/>
                <a:ea typeface="Arial"/>
                <a:cs typeface="Arial"/>
                <a:sym typeface="Arial"/>
              </a:rPr>
              <a:t>소프트웨어 공학</a:t>
            </a:r>
            <a:endParaRPr sz="6574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981467"/>
            <a:ext cx="9144000" cy="21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312"/>
              </a:spcBef>
              <a:spcAft>
                <a:spcPts val="0"/>
              </a:spcAft>
              <a:buNone/>
            </a:pPr>
            <a:r>
              <a:rPr lang="en-US" sz="4650"/>
              <a:t>Homework #2</a:t>
            </a:r>
            <a:endParaRPr sz="4650"/>
          </a:p>
          <a:p>
            <a:pPr marL="0" lvl="0" indent="0" algn="ctr" rtl="0">
              <a:spcBef>
                <a:spcPts val="1312"/>
              </a:spcBef>
              <a:spcAft>
                <a:spcPts val="0"/>
              </a:spcAft>
              <a:buNone/>
            </a:pPr>
            <a:r>
              <a:rPr lang="en-US"/>
              <a:t> Structured Analysis for the RVC Control Software</a:t>
            </a:r>
            <a:endParaRPr/>
          </a:p>
          <a:p>
            <a:pPr marL="0" lvl="0" indent="0" algn="ctr" rtl="0">
              <a:spcBef>
                <a:spcPts val="1312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286000" y="6103567"/>
            <a:ext cx="9144000" cy="21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202014612 전금신</a:t>
            </a:r>
            <a:endParaRPr sz="27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202112323 김민재</a:t>
            </a:r>
            <a:endParaRPr sz="27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202112346 정근녕</a:t>
            </a:r>
            <a:endParaRPr sz="27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202112354 한승현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4"/>
          <p:cNvCxnSpPr>
            <a:stCxn id="92" idx="5"/>
            <a:endCxn id="93" idx="1"/>
          </p:cNvCxnSpPr>
          <p:nvPr/>
        </p:nvCxnSpPr>
        <p:spPr>
          <a:xfrm>
            <a:off x="7353993" y="4961873"/>
            <a:ext cx="2036700" cy="783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4" name="Google Shape;94;p14"/>
          <p:cNvGrpSpPr/>
          <p:nvPr/>
        </p:nvGrpSpPr>
        <p:grpSpPr>
          <a:xfrm>
            <a:off x="7353993" y="2387218"/>
            <a:ext cx="2266338" cy="1116247"/>
            <a:chOff x="7178018" y="1866768"/>
            <a:chExt cx="2266338" cy="1116247"/>
          </a:xfrm>
        </p:grpSpPr>
        <p:cxnSp>
          <p:nvCxnSpPr>
            <p:cNvPr id="95" name="Google Shape;95;p14"/>
            <p:cNvCxnSpPr>
              <a:stCxn id="92" idx="7"/>
              <a:endCxn id="96" idx="1"/>
            </p:cNvCxnSpPr>
            <p:nvPr/>
          </p:nvCxnSpPr>
          <p:spPr>
            <a:xfrm rot="10800000" flipH="1">
              <a:off x="7178018" y="2344016"/>
              <a:ext cx="2036700" cy="6390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7" name="Google Shape;97;p14"/>
            <p:cNvSpPr txBox="1"/>
            <p:nvPr/>
          </p:nvSpPr>
          <p:spPr>
            <a:xfrm rot="-946773">
              <a:off x="7336574" y="2143769"/>
              <a:ext cx="2092766" cy="400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Direction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98" name="Google Shape;98;p14"/>
          <p:cNvSpPr txBox="1"/>
          <p:nvPr/>
        </p:nvSpPr>
        <p:spPr>
          <a:xfrm rot="1161410">
            <a:off x="7812833" y="4932950"/>
            <a:ext cx="1421027" cy="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870967" y="4339443"/>
            <a:ext cx="11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390623" y="2391285"/>
            <a:ext cx="1689900" cy="946200"/>
          </a:xfrm>
          <a:prstGeom prst="rect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Motor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9390623" y="5271798"/>
            <a:ext cx="1689900" cy="946200"/>
          </a:xfrm>
          <a:prstGeom prst="rect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Cleaner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56448" y="3759573"/>
            <a:ext cx="1689900" cy="946200"/>
          </a:xfrm>
          <a:prstGeom prst="rect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Sensor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5593539" y="3201420"/>
            <a:ext cx="2062500" cy="2062500"/>
          </a:xfrm>
          <a:prstGeom prst="ellipse">
            <a:avLst/>
          </a:prstGeom>
          <a:solidFill>
            <a:schemeClr val="accent1"/>
          </a:solidFill>
          <a:ln w="1143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RVC</a:t>
            </a:r>
            <a:endParaRPr sz="2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Control</a:t>
            </a:r>
            <a:endParaRPr sz="2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 rot="-2027">
            <a:off x="2828215" y="2818078"/>
            <a:ext cx="3561001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Front Sensor Input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Left Sensor Input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Right Sensor Input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Sensor Input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71875" y="368225"/>
            <a:ext cx="7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Context Diagram</a:t>
            </a:r>
            <a:r>
              <a:rPr lang="en-US"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7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4"/>
          <p:cNvCxnSpPr>
            <a:stCxn id="100" idx="3"/>
            <a:endCxn id="92" idx="2"/>
          </p:cNvCxnSpPr>
          <p:nvPr/>
        </p:nvCxnSpPr>
        <p:spPr>
          <a:xfrm>
            <a:off x="2646348" y="4232673"/>
            <a:ext cx="294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Event List</a:t>
            </a:r>
            <a:endParaRPr sz="6074"/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952500" y="2218538"/>
          <a:ext cx="10287000" cy="429750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56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 / Output Event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front of the RVC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left side of the RVC periodically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right side of the RVC periodically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dust on the floor periodically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 to the motor 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(go forward / go backward / turn left with an angle / turn right with an angle)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off / Turn on / Power-Up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6"/>
          <p:cNvGrpSpPr/>
          <p:nvPr/>
        </p:nvGrpSpPr>
        <p:grpSpPr>
          <a:xfrm>
            <a:off x="1071875" y="368225"/>
            <a:ext cx="10008648" cy="7781250"/>
            <a:chOff x="895900" y="-152225"/>
            <a:chExt cx="10008648" cy="7781250"/>
          </a:xfrm>
        </p:grpSpPr>
        <p:cxnSp>
          <p:nvCxnSpPr>
            <p:cNvPr id="115" name="Google Shape;115;p16"/>
            <p:cNvCxnSpPr>
              <a:stCxn id="116" idx="5"/>
              <a:endCxn id="117" idx="1"/>
            </p:cNvCxnSpPr>
            <p:nvPr/>
          </p:nvCxnSpPr>
          <p:spPr>
            <a:xfrm>
              <a:off x="7178018" y="4441423"/>
              <a:ext cx="2036700" cy="7830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118" name="Google Shape;118;p16"/>
            <p:cNvGrpSpPr/>
            <p:nvPr/>
          </p:nvGrpSpPr>
          <p:grpSpPr>
            <a:xfrm>
              <a:off x="7178018" y="1866768"/>
              <a:ext cx="2266338" cy="1116247"/>
              <a:chOff x="7178018" y="1866768"/>
              <a:chExt cx="2266338" cy="1116247"/>
            </a:xfrm>
          </p:grpSpPr>
          <p:cxnSp>
            <p:nvCxnSpPr>
              <p:cNvPr id="119" name="Google Shape;119;p16"/>
              <p:cNvCxnSpPr>
                <a:stCxn id="116" idx="7"/>
                <a:endCxn id="120" idx="1"/>
              </p:cNvCxnSpPr>
              <p:nvPr/>
            </p:nvCxnSpPr>
            <p:spPr>
              <a:xfrm rot="10800000" flipH="1">
                <a:off x="7178018" y="2344016"/>
                <a:ext cx="2036700" cy="639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21" name="Google Shape;121;p16"/>
              <p:cNvSpPr txBox="1"/>
              <p:nvPr/>
            </p:nvSpPr>
            <p:spPr>
              <a:xfrm rot="-946773">
                <a:off x="7336574" y="2143769"/>
                <a:ext cx="2092766" cy="400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Direction</a:t>
                </a:r>
                <a:endParaRPr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22" name="Google Shape;122;p16"/>
            <p:cNvSpPr txBox="1"/>
            <p:nvPr/>
          </p:nvSpPr>
          <p:spPr>
            <a:xfrm rot="1161410">
              <a:off x="7636858" y="4412500"/>
              <a:ext cx="1421027" cy="4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Clean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9694992" y="3818993"/>
              <a:ext cx="1129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9214648" y="1870835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Motor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9214648" y="4751348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Cleaner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509375" y="6682825"/>
              <a:ext cx="1878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Digital Clock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25" name="Google Shape;125;p16"/>
            <p:cNvCxnSpPr>
              <a:stCxn id="124" idx="0"/>
            </p:cNvCxnSpPr>
            <p:nvPr/>
          </p:nvCxnSpPr>
          <p:spPr>
            <a:xfrm rot="10800000" flipH="1">
              <a:off x="6448825" y="4869625"/>
              <a:ext cx="5700" cy="18132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lgDash"/>
              <a:miter lim="800000"/>
              <a:headEnd type="none" w="sm" len="sm"/>
              <a:tailEnd type="triangle" w="med" len="med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6582023" y="5547944"/>
              <a:ext cx="7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Tick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308098" y="6092260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Dust Sensor Input</a:t>
              </a:r>
              <a:endParaRPr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308098" y="4315135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Right Sensor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1308098" y="2538010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Left Sensor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1308098" y="760885"/>
              <a:ext cx="1689900" cy="946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Front Sensor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5417565" y="2680970"/>
              <a:ext cx="2062500" cy="2062500"/>
            </a:xfrm>
            <a:prstGeom prst="ellipse">
              <a:avLst/>
            </a:prstGeom>
            <a:solidFill>
              <a:schemeClr val="accent1"/>
            </a:solidFill>
            <a:ln w="1143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RVC</a:t>
              </a:r>
              <a:endParaRPr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Control</a:t>
              </a:r>
              <a:endParaRPr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0</a:t>
              </a:r>
              <a:endParaRPr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31" name="Google Shape;131;p16"/>
            <p:cNvCxnSpPr>
              <a:stCxn id="130" idx="3"/>
            </p:cNvCxnSpPr>
            <p:nvPr/>
          </p:nvCxnSpPr>
          <p:spPr>
            <a:xfrm>
              <a:off x="2997998" y="1233985"/>
              <a:ext cx="3047100" cy="15600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2" name="Google Shape;132;p16"/>
            <p:cNvSpPr txBox="1"/>
            <p:nvPr/>
          </p:nvSpPr>
          <p:spPr>
            <a:xfrm rot="1673821">
              <a:off x="2942740" y="1586249"/>
              <a:ext cx="3561140" cy="400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Front Sensor Input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33" name="Google Shape;133;p16"/>
            <p:cNvCxnSpPr>
              <a:stCxn id="129" idx="3"/>
            </p:cNvCxnSpPr>
            <p:nvPr/>
          </p:nvCxnSpPr>
          <p:spPr>
            <a:xfrm>
              <a:off x="2997998" y="3011110"/>
              <a:ext cx="2424900" cy="3162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4" name="Google Shape;134;p16"/>
            <p:cNvSpPr txBox="1"/>
            <p:nvPr/>
          </p:nvSpPr>
          <p:spPr>
            <a:xfrm rot="463027">
              <a:off x="3152341" y="2817462"/>
              <a:ext cx="3561153" cy="400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Left Sensor Input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 rot="-596637">
              <a:off x="3074144" y="3976781"/>
              <a:ext cx="3561402" cy="4001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Right Sensor Input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36" name="Google Shape;136;p16"/>
            <p:cNvCxnSpPr>
              <a:stCxn id="128" idx="3"/>
            </p:cNvCxnSpPr>
            <p:nvPr/>
          </p:nvCxnSpPr>
          <p:spPr>
            <a:xfrm rot="10800000" flipH="1">
              <a:off x="2997998" y="4343335"/>
              <a:ext cx="2551800" cy="4449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7" name="Google Shape;137;p16"/>
            <p:cNvCxnSpPr/>
            <p:nvPr/>
          </p:nvCxnSpPr>
          <p:spPr>
            <a:xfrm rot="10800000" flipH="1">
              <a:off x="2934548" y="4686160"/>
              <a:ext cx="2996400" cy="18792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8" name="Google Shape;138;p16"/>
            <p:cNvSpPr txBox="1"/>
            <p:nvPr/>
          </p:nvSpPr>
          <p:spPr>
            <a:xfrm rot="-1993293">
              <a:off x="2942712" y="4944978"/>
              <a:ext cx="3561378" cy="400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Dust Sensor Input</a:t>
              </a:r>
              <a:endParaRPr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895900" y="-152225"/>
              <a:ext cx="7073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DFD </a:t>
              </a:r>
              <a:r>
                <a:rPr lang="en-US" sz="33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Level</a:t>
              </a:r>
              <a:r>
                <a:rPr lang="en-US" sz="33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0 </a:t>
              </a:r>
              <a:endParaRPr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DFD Level 0 - </a:t>
            </a:r>
            <a:endParaRPr sz="60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1"/>
              <a:t>Process Specification</a:t>
            </a:r>
            <a:endParaRPr sz="5151"/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952500" y="2995563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56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RVC Control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Input, Left Sensor Input, Right Sensor Input, Dust Sensor Input, Tick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Direction, Clean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정해진 주기대로 측정된 센서의 Input 값에 따라, Direction, Clean에 Output 데이터를 전송합니다.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DFD Level 0 - </a:t>
            </a:r>
            <a:endParaRPr sz="60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1"/>
              <a:t>Data Dictionary</a:t>
            </a:r>
            <a:endParaRPr sz="5151"/>
          </a:p>
        </p:txBody>
      </p:sp>
      <p:graphicFrame>
        <p:nvGraphicFramePr>
          <p:cNvPr id="151" name="Google Shape;151;p18"/>
          <p:cNvGraphicFramePr/>
          <p:nvPr/>
        </p:nvGraphicFramePr>
        <p:xfrm>
          <a:off x="952500" y="2585838"/>
          <a:ext cx="10287000" cy="434449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215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 / Output Event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Format / Type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</a:t>
                      </a:r>
                      <a:endParaRPr sz="3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front of the RVC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Interrupt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</a:t>
                      </a:r>
                      <a:endParaRPr sz="3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left side of the RVC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</a:t>
                      </a:r>
                      <a:endParaRPr sz="3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right side of the RVC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</a:t>
                      </a:r>
                      <a:endParaRPr sz="3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dust on the floor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</a:t>
                      </a:r>
                      <a:endParaRPr sz="2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 to the motor (go forward / turn left with an angle / turn right with an angle / Turn backward)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</a:t>
                      </a:r>
                      <a:endParaRPr sz="2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off / Turn on / Power-Up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On/Off/Up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3076015" y="2768157"/>
            <a:ext cx="2062500" cy="20625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Obstacle &amp; Dust Detection </a:t>
            </a:r>
            <a:endParaRPr sz="160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60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914441" y="2989397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Cleaner &amp; Motor Control </a:t>
            </a:r>
            <a:endParaRPr sz="160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066800" y="594350"/>
            <a:ext cx="2062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Level 1 </a:t>
            </a:r>
            <a:endParaRPr sz="3900"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9" name="Google Shape;159;p19"/>
          <p:cNvCxnSpPr>
            <a:stCxn id="157" idx="7"/>
          </p:cNvCxnSpPr>
          <p:nvPr/>
        </p:nvCxnSpPr>
        <p:spPr>
          <a:xfrm rot="10800000" flipH="1">
            <a:off x="9297197" y="2768241"/>
            <a:ext cx="1477500" cy="45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19"/>
          <p:cNvCxnSpPr>
            <a:stCxn id="157" idx="5"/>
          </p:cNvCxnSpPr>
          <p:nvPr/>
        </p:nvCxnSpPr>
        <p:spPr>
          <a:xfrm>
            <a:off x="9297197" y="4372153"/>
            <a:ext cx="1620000" cy="45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19"/>
          <p:cNvCxnSpPr/>
          <p:nvPr/>
        </p:nvCxnSpPr>
        <p:spPr>
          <a:xfrm>
            <a:off x="1003300" y="2660650"/>
            <a:ext cx="2114700" cy="666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19"/>
          <p:cNvCxnSpPr/>
          <p:nvPr/>
        </p:nvCxnSpPr>
        <p:spPr>
          <a:xfrm rot="10800000" flipH="1">
            <a:off x="781775" y="3718650"/>
            <a:ext cx="2195700" cy="15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19"/>
          <p:cNvCxnSpPr/>
          <p:nvPr/>
        </p:nvCxnSpPr>
        <p:spPr>
          <a:xfrm rot="10800000" flipH="1">
            <a:off x="856857" y="4223372"/>
            <a:ext cx="2194200" cy="314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4" name="Google Shape;164;p19"/>
          <p:cNvCxnSpPr/>
          <p:nvPr/>
        </p:nvCxnSpPr>
        <p:spPr>
          <a:xfrm rot="10800000" flipH="1">
            <a:off x="1339850" y="4626650"/>
            <a:ext cx="1998000" cy="866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5" name="Google Shape;165;p19"/>
          <p:cNvCxnSpPr/>
          <p:nvPr/>
        </p:nvCxnSpPr>
        <p:spPr>
          <a:xfrm rot="10800000">
            <a:off x="4023360" y="4927910"/>
            <a:ext cx="0" cy="278353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66" name="Google Shape;166;p19"/>
          <p:cNvSpPr txBox="1"/>
          <p:nvPr/>
        </p:nvSpPr>
        <p:spPr>
          <a:xfrm rot="1769">
            <a:off x="8716599" y="5852757"/>
            <a:ext cx="2332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 rot="-1369049">
            <a:off x="1214379" y="4728705"/>
            <a:ext cx="1906927" cy="338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Sensor Input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923930" y="3327024"/>
            <a:ext cx="178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Left Sensor Input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 rot="-516308">
            <a:off x="871478" y="4050664"/>
            <a:ext cx="1908787" cy="33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Right Sensor Input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 rot="1106097">
            <a:off x="969268" y="2611297"/>
            <a:ext cx="1978953" cy="3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Front Sensor Input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 rot="-1051435">
            <a:off x="9413149" y="2636190"/>
            <a:ext cx="1044158" cy="33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Direction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 rot="944532">
            <a:off x="9752820" y="4226850"/>
            <a:ext cx="708785" cy="33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3" name="Google Shape;173;p19"/>
          <p:cNvCxnSpPr/>
          <p:nvPr/>
        </p:nvCxnSpPr>
        <p:spPr>
          <a:xfrm>
            <a:off x="9534491" y="3881826"/>
            <a:ext cx="1807129" cy="526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4" name="Google Shape;174;p19"/>
          <p:cNvSpPr txBox="1"/>
          <p:nvPr/>
        </p:nvSpPr>
        <p:spPr>
          <a:xfrm>
            <a:off x="9698567" y="3512493"/>
            <a:ext cx="112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Terminate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5" name="Google Shape;175;p19"/>
          <p:cNvCxnSpPr>
            <a:endCxn id="157" idx="4"/>
          </p:cNvCxnSpPr>
          <p:nvPr/>
        </p:nvCxnSpPr>
        <p:spPr>
          <a:xfrm rot="10800000" flipH="1">
            <a:off x="8716641" y="4609397"/>
            <a:ext cx="7800" cy="2876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76" name="Google Shape;176;p19"/>
          <p:cNvSpPr txBox="1"/>
          <p:nvPr/>
        </p:nvSpPr>
        <p:spPr>
          <a:xfrm>
            <a:off x="4023372" y="6192050"/>
            <a:ext cx="77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77" name="Google Shape;177;p19"/>
          <p:cNvGrpSpPr/>
          <p:nvPr/>
        </p:nvGrpSpPr>
        <p:grpSpPr>
          <a:xfrm>
            <a:off x="5511250" y="3289250"/>
            <a:ext cx="1964313" cy="1020300"/>
            <a:chOff x="5511250" y="3289250"/>
            <a:chExt cx="1964313" cy="1020300"/>
          </a:xfrm>
        </p:grpSpPr>
        <p:sp>
          <p:nvSpPr>
            <p:cNvPr id="178" name="Google Shape;178;p19"/>
            <p:cNvSpPr/>
            <p:nvPr/>
          </p:nvSpPr>
          <p:spPr>
            <a:xfrm>
              <a:off x="5580150" y="3289250"/>
              <a:ext cx="1784100" cy="1020300"/>
            </a:xfrm>
            <a:prstGeom prst="rect">
              <a:avLst/>
            </a:prstGeom>
            <a:solidFill>
              <a:schemeClr val="dk1"/>
            </a:solidFill>
            <a:ln w="381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Obstacle &amp; </a:t>
              </a:r>
              <a:endParaRPr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Dust Location &amp;</a:t>
              </a:r>
              <a:endParaRPr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Tick</a:t>
              </a:r>
              <a:endParaRPr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5511250" y="3308400"/>
              <a:ext cx="278100" cy="982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7197463" y="3308000"/>
              <a:ext cx="278100" cy="982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cxnSp>
        <p:nvCxnSpPr>
          <p:cNvPr id="181" name="Google Shape;181;p19"/>
          <p:cNvCxnSpPr>
            <a:stCxn id="156" idx="6"/>
            <a:endCxn id="178" idx="1"/>
          </p:cNvCxnSpPr>
          <p:nvPr/>
        </p:nvCxnSpPr>
        <p:spPr>
          <a:xfrm>
            <a:off x="5138515" y="3799407"/>
            <a:ext cx="4416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2" name="Google Shape;182;p19"/>
          <p:cNvCxnSpPr>
            <a:stCxn id="178" idx="3"/>
            <a:endCxn id="157" idx="2"/>
          </p:cNvCxnSpPr>
          <p:nvPr/>
        </p:nvCxnSpPr>
        <p:spPr>
          <a:xfrm>
            <a:off x="7364250" y="3799400"/>
            <a:ext cx="550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1 -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914400" y="18632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Obstacle &amp; Dust Detection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Input, Left Sensor Input, Right Sensor Input, Dust Sensor Input, Tick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&amp; Dust Location &amp; Tick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정해진 주기마다 측정된 센서의 Input 값과 Tick을  Obstacle &amp; Dust Location &amp; Tick에 저장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9" name="Google Shape;189;p20"/>
          <p:cNvGraphicFramePr/>
          <p:nvPr/>
        </p:nvGraphicFramePr>
        <p:xfrm>
          <a:off x="914400" y="5078563"/>
          <a:ext cx="10287000" cy="326123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56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Cleaner &amp; Motor Control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&amp; Dust Location &amp; Tick, TurnCount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Direction, Clean , Terminate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TurnCount가 일정 수치 이상으로 올라가면 Terminate, Obstacle &amp; DustLocation &amp; Tick 에 저장되어있는 센서값, Tick을 계산하여 모터의 방향과 작동 여부를 결정하고, Cleaner의 터보 작동과 작동 여부를 결정.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838200" y="479144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DFD Level 1 - </a:t>
            </a:r>
            <a:endParaRPr sz="60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1"/>
              <a:t>Data Dictionary</a:t>
            </a:r>
            <a:endParaRPr sz="5151"/>
          </a:p>
        </p:txBody>
      </p:sp>
      <p:graphicFrame>
        <p:nvGraphicFramePr>
          <p:cNvPr id="195" name="Google Shape;195;p21"/>
          <p:cNvGraphicFramePr/>
          <p:nvPr/>
        </p:nvGraphicFramePr>
        <p:xfrm>
          <a:off x="952500" y="2585838"/>
          <a:ext cx="10287000" cy="5225713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215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 / Output Event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Format / Type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</a:t>
                      </a:r>
                      <a:endParaRPr sz="29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front of the RVC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Interrupt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Input </a:t>
                      </a:r>
                      <a:endParaRPr sz="29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on the left side of the RVC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Input</a:t>
                      </a:r>
                      <a:endParaRPr sz="29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on the right side of the RVC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Input</a:t>
                      </a:r>
                      <a:endParaRPr sz="29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dust on the floor periodically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</a:t>
                      </a:r>
                      <a:endParaRPr sz="18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Determines whether motors work or not, and direction of motors (go forward / turn left with an angle / turn right with an angle / Turn backward)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</a:t>
                      </a:r>
                      <a:endParaRPr sz="18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on / Turn off / Power-Up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On/Off/Up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</a:t>
                      </a:r>
                      <a:endParaRPr sz="18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Records the number of times the RVC Rotate in a row, to prevent an infinite Loop. </a:t>
                      </a:r>
                      <a:r>
                        <a:rPr lang="en-US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If the RVC goes forward, initialized to zero 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Integer</a:t>
                      </a:r>
                      <a:endParaRPr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>
            <a:off x="3074609" y="1019316"/>
            <a:ext cx="1620000" cy="1620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 Sensor Interface 1.1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237446" y="4997609"/>
            <a:ext cx="1620000" cy="1620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Sensor Interface 1.3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523336" y="3092892"/>
            <a:ext cx="1620000" cy="1620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Sensor Interface 1.2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4333336" y="6942343"/>
            <a:ext cx="1620000" cy="1620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Dust Sensor Interface 1.4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6485232" y="2306626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Determine Obstacle Location 1.5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6794689" y="5072913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Determine Dust Existence 1.6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03925" y="116425"/>
            <a:ext cx="2132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Level 2 </a:t>
            </a:r>
            <a:endParaRPr sz="4100"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9447128" y="2643512"/>
            <a:ext cx="1689900" cy="946200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Obstacle Location</a:t>
            </a:r>
            <a:endParaRPr sz="1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600000" y="5409825"/>
            <a:ext cx="1905900" cy="946200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Existence(2)</a:t>
            </a:r>
            <a:endParaRPr sz="1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 rot="10800000" flipH="1">
            <a:off x="825322" y="2046308"/>
            <a:ext cx="2080200" cy="309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" name="Google Shape;210;p22"/>
          <p:cNvCxnSpPr/>
          <p:nvPr/>
        </p:nvCxnSpPr>
        <p:spPr>
          <a:xfrm rot="10800000" flipH="1">
            <a:off x="1072495" y="4228434"/>
            <a:ext cx="2307900" cy="17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1" name="Google Shape;211;p22"/>
          <p:cNvCxnSpPr/>
          <p:nvPr/>
        </p:nvCxnSpPr>
        <p:spPr>
          <a:xfrm>
            <a:off x="1526300" y="6240875"/>
            <a:ext cx="2657100" cy="11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2" name="Google Shape;212;p22"/>
          <p:cNvCxnSpPr/>
          <p:nvPr/>
        </p:nvCxnSpPr>
        <p:spPr>
          <a:xfrm rot="10800000" flipH="1">
            <a:off x="1515000" y="7733475"/>
            <a:ext cx="2509800" cy="11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3" name="Google Shape;213;p22"/>
          <p:cNvSpPr txBox="1"/>
          <p:nvPr/>
        </p:nvSpPr>
        <p:spPr>
          <a:xfrm>
            <a:off x="1232357" y="7353750"/>
            <a:ext cx="269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Sensor Input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232348" y="3876215"/>
            <a:ext cx="1784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Left Sensor Input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769056" y="5848672"/>
            <a:ext cx="1908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Right Sensor Input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825337" y="1599538"/>
            <a:ext cx="1979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Front Sensor Input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17" name="Google Shape;217;p22"/>
          <p:cNvCxnSpPr/>
          <p:nvPr/>
        </p:nvCxnSpPr>
        <p:spPr>
          <a:xfrm rot="10800000" flipH="1">
            <a:off x="1684575" y="8039925"/>
            <a:ext cx="2348400" cy="99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18" name="Google Shape;218;p22"/>
          <p:cNvSpPr txBox="1"/>
          <p:nvPr/>
        </p:nvSpPr>
        <p:spPr>
          <a:xfrm>
            <a:off x="2447668" y="8064948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19" name="Google Shape;219;p22"/>
          <p:cNvCxnSpPr/>
          <p:nvPr/>
        </p:nvCxnSpPr>
        <p:spPr>
          <a:xfrm rot="10800000" flipH="1">
            <a:off x="1458475" y="4469650"/>
            <a:ext cx="1985700" cy="75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20" name="Google Shape;220;p22"/>
          <p:cNvSpPr txBox="1"/>
          <p:nvPr/>
        </p:nvSpPr>
        <p:spPr>
          <a:xfrm>
            <a:off x="2175449" y="4550642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 flipH="1">
            <a:off x="1653705" y="6455768"/>
            <a:ext cx="2337300" cy="20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22"/>
          <p:cNvSpPr txBox="1"/>
          <p:nvPr/>
        </p:nvSpPr>
        <p:spPr>
          <a:xfrm>
            <a:off x="2447668" y="6472584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23" name="Google Shape;223;p22"/>
          <p:cNvCxnSpPr/>
          <p:nvPr/>
        </p:nvCxnSpPr>
        <p:spPr>
          <a:xfrm>
            <a:off x="4517257" y="2240326"/>
            <a:ext cx="1905900" cy="876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4" name="Google Shape;224;p22"/>
          <p:cNvCxnSpPr/>
          <p:nvPr/>
        </p:nvCxnSpPr>
        <p:spPr>
          <a:xfrm rot="10800000" flipH="1">
            <a:off x="5057551" y="3650842"/>
            <a:ext cx="1427681" cy="13004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p22"/>
          <p:cNvCxnSpPr/>
          <p:nvPr/>
        </p:nvCxnSpPr>
        <p:spPr>
          <a:xfrm rot="10800000" flipH="1">
            <a:off x="5470157" y="3889261"/>
            <a:ext cx="1369800" cy="1331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6" name="Google Shape;226;p22"/>
          <p:cNvCxnSpPr/>
          <p:nvPr/>
        </p:nvCxnSpPr>
        <p:spPr>
          <a:xfrm rot="10800000" flipH="1">
            <a:off x="5928903" y="6614000"/>
            <a:ext cx="1148700" cy="1225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22"/>
          <p:cNvSpPr txBox="1"/>
          <p:nvPr/>
        </p:nvSpPr>
        <p:spPr>
          <a:xfrm rot="1502919">
            <a:off x="4679069" y="2292902"/>
            <a:ext cx="1602078" cy="32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Front Obstacle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 rot="-222946">
            <a:off x="5066262" y="3337006"/>
            <a:ext cx="1407258" cy="32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Left Obstacle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 rot="-2700000">
            <a:off x="5532364" y="4516460"/>
            <a:ext cx="1585051" cy="3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Right Obstacle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 rot="-2700000">
            <a:off x="5880958" y="7190202"/>
            <a:ext cx="1753483" cy="3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Existence(1)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052609" y="1019316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Front Sensor Interface 1.1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215446" y="4997609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Right Sensor Interface 1.3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501336" y="3092892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Left Sensor Interface 1.2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311336" y="6942343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Sensor Interface 1.4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9376575" y="2683250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36" name="Google Shape;236;p22"/>
          <p:cNvCxnSpPr>
            <a:endCxn id="207" idx="1"/>
          </p:cNvCxnSpPr>
          <p:nvPr/>
        </p:nvCxnSpPr>
        <p:spPr>
          <a:xfrm>
            <a:off x="8051828" y="3092912"/>
            <a:ext cx="1395300" cy="23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7" name="Google Shape;237;p22"/>
          <p:cNvSpPr/>
          <p:nvPr/>
        </p:nvSpPr>
        <p:spPr>
          <a:xfrm>
            <a:off x="11055300" y="2683250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9447125" y="5448225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39" name="Google Shape;239;p22"/>
          <p:cNvCxnSpPr>
            <a:stCxn id="205" idx="6"/>
            <a:endCxn id="208" idx="1"/>
          </p:cNvCxnSpPr>
          <p:nvPr/>
        </p:nvCxnSpPr>
        <p:spPr>
          <a:xfrm>
            <a:off x="8414689" y="5882913"/>
            <a:ext cx="11853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0" name="Google Shape;240;p22"/>
          <p:cNvSpPr/>
          <p:nvPr/>
        </p:nvSpPr>
        <p:spPr>
          <a:xfrm>
            <a:off x="11393600" y="5448225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529000" y="319875"/>
            <a:ext cx="3798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Level 2 </a:t>
            </a:r>
            <a:endParaRPr sz="4400"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319128" y="2448872"/>
            <a:ext cx="1689904" cy="946244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Obstacle Location</a:t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319125" y="5344650"/>
            <a:ext cx="2003400" cy="946200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Existence(2)</a:t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752696" y="3499292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Main Control 2.1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912456" y="2111994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Motor Interface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912456" y="4758167"/>
            <a:ext cx="1620000" cy="162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Cleaner Interface</a:t>
            </a:r>
            <a:b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1" name="Google Shape;251;p23"/>
          <p:cNvCxnSpPr>
            <a:endCxn id="248" idx="1"/>
          </p:cNvCxnSpPr>
          <p:nvPr/>
        </p:nvCxnSpPr>
        <p:spPr>
          <a:xfrm>
            <a:off x="3088540" y="2885436"/>
            <a:ext cx="1901400" cy="851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2" name="Google Shape;252;p23"/>
          <p:cNvSpPr txBox="1"/>
          <p:nvPr/>
        </p:nvSpPr>
        <p:spPr>
          <a:xfrm rot="-1459720">
            <a:off x="6121089" y="3128243"/>
            <a:ext cx="1801586" cy="32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Motor Command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3" name="Google Shape;253;p23"/>
          <p:cNvCxnSpPr>
            <a:stCxn id="247" idx="3"/>
            <a:endCxn id="248" idx="3"/>
          </p:cNvCxnSpPr>
          <p:nvPr/>
        </p:nvCxnSpPr>
        <p:spPr>
          <a:xfrm rot="10800000" flipH="1">
            <a:off x="3322525" y="4882050"/>
            <a:ext cx="1667400" cy="935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4" name="Google Shape;254;p23"/>
          <p:cNvCxnSpPr/>
          <p:nvPr/>
        </p:nvCxnSpPr>
        <p:spPr>
          <a:xfrm rot="10800000" flipH="1">
            <a:off x="6258560" y="3119120"/>
            <a:ext cx="1653896" cy="808795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5" name="Google Shape;255;p23"/>
          <p:cNvSpPr txBox="1"/>
          <p:nvPr/>
        </p:nvSpPr>
        <p:spPr>
          <a:xfrm rot="680538">
            <a:off x="5979923" y="5077628"/>
            <a:ext cx="1978439" cy="32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Cleaner Command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6" name="Google Shape;256;p23"/>
          <p:cNvCxnSpPr>
            <a:stCxn id="248" idx="5"/>
          </p:cNvCxnSpPr>
          <p:nvPr/>
        </p:nvCxnSpPr>
        <p:spPr>
          <a:xfrm>
            <a:off x="6135452" y="4882048"/>
            <a:ext cx="1767300" cy="3639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7" name="Google Shape;257;p23"/>
          <p:cNvSpPr txBox="1"/>
          <p:nvPr/>
        </p:nvSpPr>
        <p:spPr>
          <a:xfrm rot="-289756">
            <a:off x="9851826" y="1809383"/>
            <a:ext cx="1044107" cy="323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Direction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8" name="Google Shape;258;p23"/>
          <p:cNvCxnSpPr/>
          <p:nvPr/>
        </p:nvCxnSpPr>
        <p:spPr>
          <a:xfrm rot="10800000" flipH="1">
            <a:off x="9204960" y="2136870"/>
            <a:ext cx="2406300" cy="18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259;p23"/>
          <p:cNvCxnSpPr/>
          <p:nvPr/>
        </p:nvCxnSpPr>
        <p:spPr>
          <a:xfrm rot="10800000" flipH="1">
            <a:off x="9418320" y="2686356"/>
            <a:ext cx="2042160" cy="26815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0" name="Google Shape;260;p23"/>
          <p:cNvSpPr txBox="1"/>
          <p:nvPr/>
        </p:nvSpPr>
        <p:spPr>
          <a:xfrm rot="-480058">
            <a:off x="9808067" y="2889123"/>
            <a:ext cx="1129394" cy="3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Terminate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 rot="10800000" flipH="1">
            <a:off x="9290054" y="4718512"/>
            <a:ext cx="2042160" cy="26815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2" name="Google Shape;262;p23"/>
          <p:cNvSpPr txBox="1"/>
          <p:nvPr/>
        </p:nvSpPr>
        <p:spPr>
          <a:xfrm rot="-733104">
            <a:off x="9677988" y="4921533"/>
            <a:ext cx="708755" cy="3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3" name="Google Shape;263;p23"/>
          <p:cNvCxnSpPr/>
          <p:nvPr/>
        </p:nvCxnSpPr>
        <p:spPr>
          <a:xfrm rot="10800000" flipH="1">
            <a:off x="9418320" y="5614417"/>
            <a:ext cx="2042160" cy="26815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4" name="Google Shape;264;p23"/>
          <p:cNvSpPr txBox="1"/>
          <p:nvPr/>
        </p:nvSpPr>
        <p:spPr>
          <a:xfrm rot="-534456">
            <a:off x="9807582" y="5817229"/>
            <a:ext cx="1044295" cy="32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PowerUP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5" name="Google Shape;265;p23"/>
          <p:cNvCxnSpPr/>
          <p:nvPr/>
        </p:nvCxnSpPr>
        <p:spPr>
          <a:xfrm rot="10800000">
            <a:off x="5047166" y="5183619"/>
            <a:ext cx="0" cy="2783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66" name="Google Shape;266;p23"/>
          <p:cNvSpPr txBox="1"/>
          <p:nvPr/>
        </p:nvSpPr>
        <p:spPr>
          <a:xfrm>
            <a:off x="6007281" y="6595752"/>
            <a:ext cx="117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7" name="Google Shape;267;p23"/>
          <p:cNvCxnSpPr/>
          <p:nvPr/>
        </p:nvCxnSpPr>
        <p:spPr>
          <a:xfrm rot="10800000">
            <a:off x="5788350" y="5172975"/>
            <a:ext cx="35400" cy="2804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68" name="Google Shape;268;p23"/>
          <p:cNvSpPr txBox="1"/>
          <p:nvPr/>
        </p:nvSpPr>
        <p:spPr>
          <a:xfrm>
            <a:off x="5101895" y="6682107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265825" y="5383075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146575" y="5383075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146575" y="2487288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810450" y="2487300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2 -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278" name="Google Shape;278;p24"/>
          <p:cNvGraphicFramePr/>
          <p:nvPr/>
        </p:nvGraphicFramePr>
        <p:xfrm>
          <a:off x="914400" y="18632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1.1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Obstacle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항상 작동중인 Front Sensor의 Input 값을 Front Obstacle에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9" name="Google Shape;279;p24"/>
          <p:cNvGraphicFramePr/>
          <p:nvPr/>
        </p:nvGraphicFramePr>
        <p:xfrm>
          <a:off x="914400" y="53940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1.2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Input,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Obstacle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주기적으로 측정하는 Left Sensor의 Input 값을 Left Obstacle에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2 -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285" name="Google Shape;285;p25"/>
          <p:cNvGraphicFramePr/>
          <p:nvPr/>
        </p:nvGraphicFramePr>
        <p:xfrm>
          <a:off x="914400" y="18632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1.3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Input,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Obstacle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주기적으로 측정하는 Right Sensor의 Input 값을 Right Obstacle에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6" name="Google Shape;286;p25"/>
          <p:cNvGraphicFramePr/>
          <p:nvPr/>
        </p:nvGraphicFramePr>
        <p:xfrm>
          <a:off x="914400" y="53940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1.4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Input,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주기적으로 측정하는 Dust Sensor의 Input 값을 Dust Obstacle에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2 -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292" name="Google Shape;292;p26"/>
          <p:cNvGraphicFramePr/>
          <p:nvPr/>
        </p:nvGraphicFramePr>
        <p:xfrm>
          <a:off x="914400" y="18632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1.5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Determine Obstacle Location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Obstacle, Left Obstacle, Right Obstacle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Front Obstacle, Left Obstacle, Right Obstacle 입력을 받아 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3" name="Google Shape;293;p26"/>
          <p:cNvGraphicFramePr/>
          <p:nvPr/>
        </p:nvGraphicFramePr>
        <p:xfrm>
          <a:off x="914400" y="53940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1.6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Determine Dust Existence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Existence(1)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Existence(2)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Existence(1) 입력을 받아 Dust Existence(2)에 저장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2 -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299" name="Google Shape;299;p27"/>
          <p:cNvGraphicFramePr/>
          <p:nvPr/>
        </p:nvGraphicFramePr>
        <p:xfrm>
          <a:off x="914400" y="18632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Main Control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Location, Dust Existence(2), Tick, TurnCount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Command, Cleaner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Location, Dust Existence(2), Tick, TurnCount의 값을 읽어와  동작을 결정해, Motor Command, Cleaner Command를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0" name="Google Shape;300;p27"/>
          <p:cNvGraphicFramePr/>
          <p:nvPr/>
        </p:nvGraphicFramePr>
        <p:xfrm>
          <a:off x="914400" y="53940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2.2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, Terminate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Command를 받아, Direction과 Teminate에 할당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>
            <a:spLocks noGrp="1"/>
          </p:cNvSpPr>
          <p:nvPr>
            <p:ph type="title"/>
          </p:nvPr>
        </p:nvSpPr>
        <p:spPr>
          <a:xfrm>
            <a:off x="838200" y="88056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2 -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306" name="Google Shape;306;p28"/>
          <p:cNvGraphicFramePr/>
          <p:nvPr/>
        </p:nvGraphicFramePr>
        <p:xfrm>
          <a:off x="952500" y="3346463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2.3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Interface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 , PowerUp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Command를 받아, Clean과 PowerUP에 할당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>
            <a:spLocks noGrp="1"/>
          </p:cNvSpPr>
          <p:nvPr>
            <p:ph type="title"/>
          </p:nvPr>
        </p:nvSpPr>
        <p:spPr>
          <a:xfrm>
            <a:off x="723900" y="-295756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DFD Level 2 - </a:t>
            </a:r>
            <a:r>
              <a:rPr lang="en-US" sz="5151"/>
              <a:t>Data Dictionary</a:t>
            </a:r>
            <a:endParaRPr sz="5151"/>
          </a:p>
        </p:txBody>
      </p:sp>
      <p:graphicFrame>
        <p:nvGraphicFramePr>
          <p:cNvPr id="312" name="Google Shape;312;p29"/>
          <p:cNvGraphicFramePr/>
          <p:nvPr/>
        </p:nvGraphicFramePr>
        <p:xfrm>
          <a:off x="838200" y="1035988"/>
          <a:ext cx="10287000" cy="7812614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215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 / Output Event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Format / Type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front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Interrupt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left side of the RVC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right side of the RVC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dust on the floor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Obstacles in front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on the left side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on the right side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Existence(1)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detected in front of RVC by Dust Sensor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Save Obstacle Location Data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Existence(2)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Save Dust Existence Data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Command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Turn off / Turn 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 to the motor (go forward / turn left with an angle / turn right with an angle)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Terminate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RVC terminated when TurnCount rises above a certain level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off / Turn 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PowerUp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PowerUp for stronger cleaning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Record the number of times the RVC Rotate to prevent an infinite Loop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if the RVC goes forward, initialize to zero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integer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/>
          <p:nvPr/>
        </p:nvSpPr>
        <p:spPr>
          <a:xfrm>
            <a:off x="4930382" y="2916967"/>
            <a:ext cx="2062500" cy="20625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Controller</a:t>
            </a:r>
            <a:endParaRPr sz="1100" dirty="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2.1.1</a:t>
            </a:r>
            <a:endParaRPr sz="2100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9477487" y="260307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Move Forward 2.1.2</a:t>
            </a:r>
            <a:endParaRPr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9488439" y="3676588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 Left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2.1.4</a:t>
            </a:r>
            <a:endParaRPr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9488439" y="5352936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 Right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2.1.5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9488439" y="7201655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Backward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2.1.6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1443543" y="6612921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2.1.7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738700" y="168600"/>
            <a:ext cx="319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Level 3</a:t>
            </a:r>
            <a:r>
              <a:rPr lang="en-US" sz="5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5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9477487" y="1996519"/>
            <a:ext cx="1260000" cy="12600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Terminate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2.1.3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25" name="Google Shape;325;p30"/>
          <p:cNvCxnSpPr/>
          <p:nvPr/>
        </p:nvCxnSpPr>
        <p:spPr>
          <a:xfrm rot="10800000" flipH="1">
            <a:off x="6669060" y="1461084"/>
            <a:ext cx="3128100" cy="1782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26" name="Google Shape;326;p30"/>
          <p:cNvCxnSpPr/>
          <p:nvPr/>
        </p:nvCxnSpPr>
        <p:spPr>
          <a:xfrm rot="10800000" flipH="1">
            <a:off x="6966185" y="2719971"/>
            <a:ext cx="2480400" cy="717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27" name="Google Shape;327;p30"/>
          <p:cNvCxnSpPr>
            <a:stCxn id="317" idx="6"/>
          </p:cNvCxnSpPr>
          <p:nvPr/>
        </p:nvCxnSpPr>
        <p:spPr>
          <a:xfrm>
            <a:off x="6992882" y="3948217"/>
            <a:ext cx="2504700" cy="89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28" name="Google Shape;328;p30"/>
          <p:cNvCxnSpPr/>
          <p:nvPr/>
        </p:nvCxnSpPr>
        <p:spPr>
          <a:xfrm>
            <a:off x="6806762" y="4408558"/>
            <a:ext cx="2866200" cy="1052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29" name="Google Shape;329;p30"/>
          <p:cNvCxnSpPr>
            <a:endCxn id="321" idx="1"/>
          </p:cNvCxnSpPr>
          <p:nvPr/>
        </p:nvCxnSpPr>
        <p:spPr>
          <a:xfrm>
            <a:off x="6477962" y="4792977"/>
            <a:ext cx="3195000" cy="2593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30" name="Google Shape;330;p30"/>
          <p:cNvCxnSpPr/>
          <p:nvPr/>
        </p:nvCxnSpPr>
        <p:spPr>
          <a:xfrm rot="10800000" flipH="1">
            <a:off x="6414300" y="1236850"/>
            <a:ext cx="3195300" cy="180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31" name="Google Shape;331;p30"/>
          <p:cNvSpPr txBox="1"/>
          <p:nvPr/>
        </p:nvSpPr>
        <p:spPr>
          <a:xfrm rot="-1750977">
            <a:off x="7433903" y="1867873"/>
            <a:ext cx="819525" cy="32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Enable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 rot="-1789981">
            <a:off x="7484860" y="2211859"/>
            <a:ext cx="870799" cy="32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Disable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 rot="-1084862">
            <a:off x="7478179" y="2840708"/>
            <a:ext cx="829355" cy="3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Trigger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7825905" y="3622279"/>
            <a:ext cx="829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Trigger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 rot="1117500">
            <a:off x="7950795" y="4607487"/>
            <a:ext cx="829438" cy="32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Trigger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 rot="2305218">
            <a:off x="7304775" y="5430167"/>
            <a:ext cx="829384" cy="323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Trigger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37" name="Google Shape;337;p30"/>
          <p:cNvCxnSpPr/>
          <p:nvPr/>
        </p:nvCxnSpPr>
        <p:spPr>
          <a:xfrm rot="10800000" flipH="1">
            <a:off x="8566649" y="2485748"/>
            <a:ext cx="895800" cy="4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38" name="Google Shape;338;p30"/>
          <p:cNvCxnSpPr/>
          <p:nvPr/>
        </p:nvCxnSpPr>
        <p:spPr>
          <a:xfrm>
            <a:off x="8280175" y="4544513"/>
            <a:ext cx="1200300" cy="99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39" name="Google Shape;339;p30"/>
          <p:cNvCxnSpPr/>
          <p:nvPr/>
        </p:nvCxnSpPr>
        <p:spPr>
          <a:xfrm>
            <a:off x="8631949" y="5954204"/>
            <a:ext cx="807600" cy="140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40" name="Google Shape;340;p30"/>
          <p:cNvSpPr txBox="1"/>
          <p:nvPr/>
        </p:nvSpPr>
        <p:spPr>
          <a:xfrm>
            <a:off x="8738693" y="2211845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 rot="224492">
            <a:off x="8589731" y="4304704"/>
            <a:ext cx="551676" cy="32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 rot="650731">
            <a:off x="8615074" y="5612195"/>
            <a:ext cx="551654" cy="3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43" name="Google Shape;343;p30"/>
          <p:cNvCxnSpPr>
            <a:endCxn id="322" idx="7"/>
          </p:cNvCxnSpPr>
          <p:nvPr/>
        </p:nvCxnSpPr>
        <p:spPr>
          <a:xfrm flipH="1">
            <a:off x="2519020" y="4432544"/>
            <a:ext cx="2532000" cy="23649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344" name="Google Shape;344;p30"/>
          <p:cNvCxnSpPr>
            <a:stCxn id="322" idx="0"/>
            <a:endCxn id="317" idx="2"/>
          </p:cNvCxnSpPr>
          <p:nvPr/>
        </p:nvCxnSpPr>
        <p:spPr>
          <a:xfrm rot="10800000" flipH="1">
            <a:off x="2073543" y="3948321"/>
            <a:ext cx="2856900" cy="2664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45" name="Google Shape;345;p30"/>
          <p:cNvSpPr txBox="1"/>
          <p:nvPr/>
        </p:nvSpPr>
        <p:spPr>
          <a:xfrm rot="-2700000">
            <a:off x="3654410" y="5437012"/>
            <a:ext cx="819254" cy="3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Enable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 rot="-2516504">
            <a:off x="3334199" y="5069637"/>
            <a:ext cx="870769" cy="32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Disable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47" name="Google Shape;347;p30"/>
          <p:cNvCxnSpPr>
            <a:endCxn id="322" idx="6"/>
          </p:cNvCxnSpPr>
          <p:nvPr/>
        </p:nvCxnSpPr>
        <p:spPr>
          <a:xfrm flipH="1">
            <a:off x="2703543" y="4880721"/>
            <a:ext cx="2753400" cy="2362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48" name="Google Shape;348;p30"/>
          <p:cNvSpPr txBox="1"/>
          <p:nvPr/>
        </p:nvSpPr>
        <p:spPr>
          <a:xfrm rot="-2509985">
            <a:off x="3750000" y="5910800"/>
            <a:ext cx="1044436" cy="32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PowerUP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49" name="Google Shape;349;p30"/>
          <p:cNvCxnSpPr>
            <a:stCxn id="350" idx="3"/>
            <a:endCxn id="317" idx="1"/>
          </p:cNvCxnSpPr>
          <p:nvPr/>
        </p:nvCxnSpPr>
        <p:spPr>
          <a:xfrm>
            <a:off x="3342728" y="1890013"/>
            <a:ext cx="1889700" cy="1329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1" name="Google Shape;351;p30"/>
          <p:cNvCxnSpPr>
            <a:stCxn id="352" idx="3"/>
          </p:cNvCxnSpPr>
          <p:nvPr/>
        </p:nvCxnSpPr>
        <p:spPr>
          <a:xfrm>
            <a:off x="3332103" y="3157250"/>
            <a:ext cx="1515000" cy="206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3" name="Google Shape;353;p30"/>
          <p:cNvCxnSpPr/>
          <p:nvPr/>
        </p:nvCxnSpPr>
        <p:spPr>
          <a:xfrm>
            <a:off x="5030512" y="2187770"/>
            <a:ext cx="514800" cy="703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54" name="Google Shape;354;p30"/>
          <p:cNvSpPr txBox="1"/>
          <p:nvPr/>
        </p:nvSpPr>
        <p:spPr>
          <a:xfrm>
            <a:off x="5232372" y="2187787"/>
            <a:ext cx="55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55" name="Google Shape;355;p30"/>
          <p:cNvCxnSpPr>
            <a:stCxn id="318" idx="2"/>
            <a:endCxn id="317" idx="0"/>
          </p:cNvCxnSpPr>
          <p:nvPr/>
        </p:nvCxnSpPr>
        <p:spPr>
          <a:xfrm flipH="1">
            <a:off x="5961487" y="890307"/>
            <a:ext cx="3516000" cy="202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56" name="Google Shape;356;p30"/>
          <p:cNvSpPr txBox="1"/>
          <p:nvPr/>
        </p:nvSpPr>
        <p:spPr>
          <a:xfrm rot="-1735058">
            <a:off x="7307810" y="1373906"/>
            <a:ext cx="1170092" cy="32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423740" y="1466200"/>
            <a:ext cx="1689900" cy="946200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Obstacle Location F/L/R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1276988" y="1505938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3031913" y="1505938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423751" y="2707275"/>
            <a:ext cx="1825200" cy="946200"/>
          </a:xfrm>
          <a:prstGeom prst="rect">
            <a:avLst/>
          </a:prstGeom>
          <a:solidFill>
            <a:schemeClr val="dk1"/>
          </a:solidFill>
          <a:ln w="762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Dust Existence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327213" y="2826938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1330863" y="2745663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3113638" y="2745663"/>
            <a:ext cx="278100" cy="8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64" name="Google Shape;364;p30"/>
          <p:cNvCxnSpPr>
            <a:endCxn id="317" idx="5"/>
          </p:cNvCxnSpPr>
          <p:nvPr/>
        </p:nvCxnSpPr>
        <p:spPr>
          <a:xfrm rot="10800000">
            <a:off x="6690836" y="4677421"/>
            <a:ext cx="2817600" cy="1110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65" name="Google Shape;365;p30"/>
          <p:cNvSpPr txBox="1"/>
          <p:nvPr/>
        </p:nvSpPr>
        <p:spPr>
          <a:xfrm rot="1318069">
            <a:off x="7739806" y="5004600"/>
            <a:ext cx="1170053" cy="3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66" name="Google Shape;366;p30"/>
          <p:cNvCxnSpPr>
            <a:stCxn id="319" idx="2"/>
          </p:cNvCxnSpPr>
          <p:nvPr/>
        </p:nvCxnSpPr>
        <p:spPr>
          <a:xfrm rot="10800000">
            <a:off x="6995739" y="4185388"/>
            <a:ext cx="2492700" cy="121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67" name="Google Shape;367;p30"/>
          <p:cNvSpPr txBox="1"/>
          <p:nvPr/>
        </p:nvSpPr>
        <p:spPr>
          <a:xfrm rot="881">
            <a:off x="7655656" y="3955820"/>
            <a:ext cx="117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68" name="Google Shape;368;p30"/>
          <p:cNvCxnSpPr>
            <a:stCxn id="321" idx="2"/>
          </p:cNvCxnSpPr>
          <p:nvPr/>
        </p:nvCxnSpPr>
        <p:spPr>
          <a:xfrm rot="10800000">
            <a:off x="6255639" y="4954955"/>
            <a:ext cx="3232800" cy="2876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69" name="Google Shape;369;p30"/>
          <p:cNvSpPr txBox="1"/>
          <p:nvPr/>
        </p:nvSpPr>
        <p:spPr>
          <a:xfrm rot="2429864">
            <a:off x="7426896" y="6162817"/>
            <a:ext cx="1170125" cy="32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TurnCount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70" name="Google Shape;370;p30"/>
          <p:cNvCxnSpPr>
            <a:endCxn id="321" idx="3"/>
          </p:cNvCxnSpPr>
          <p:nvPr/>
        </p:nvCxnSpPr>
        <p:spPr>
          <a:xfrm>
            <a:off x="8653262" y="8133132"/>
            <a:ext cx="1019700" cy="144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71" name="Google Shape;371;p30"/>
          <p:cNvSpPr txBox="1"/>
          <p:nvPr/>
        </p:nvSpPr>
        <p:spPr>
          <a:xfrm rot="650731">
            <a:off x="8759924" y="7818720"/>
            <a:ext cx="551654" cy="3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72" name="Google Shape;372;p30"/>
          <p:cNvCxnSpPr>
            <a:endCxn id="322" idx="1"/>
          </p:cNvCxnSpPr>
          <p:nvPr/>
        </p:nvCxnSpPr>
        <p:spPr>
          <a:xfrm flipH="1">
            <a:off x="1628066" y="5047544"/>
            <a:ext cx="1068900" cy="17499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lgDash"/>
            <a:miter lim="800000"/>
            <a:headEnd type="none" w="sm" len="sm"/>
            <a:tailEnd type="triangle" w="med" len="med"/>
          </a:ln>
        </p:spPr>
      </p:cxnSp>
      <p:sp>
        <p:nvSpPr>
          <p:cNvPr id="373" name="Google Shape;373;p30"/>
          <p:cNvSpPr txBox="1"/>
          <p:nvPr/>
        </p:nvSpPr>
        <p:spPr>
          <a:xfrm rot="650731">
            <a:off x="1580624" y="5539970"/>
            <a:ext cx="551654" cy="3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3 -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379" name="Google Shape;379;p31"/>
          <p:cNvGraphicFramePr/>
          <p:nvPr/>
        </p:nvGraphicFramePr>
        <p:xfrm>
          <a:off x="914400" y="1863288"/>
          <a:ext cx="10287000" cy="365747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2.1.1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Location, Dust Existence, Tick, TurnCount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Trigger, Enable, Disable, PowerUP,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Location, Dust Existence, Tick, TurnCount를 받아 RCV의 동작을 결정. TurnCount는 최초 작동시 0으로 초기화되며, Controller가 입력을 받을 때마다 1씩 증가한다. Move Forward로부터 입력을 받을 경우 0으로 초기화된다.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0" name="Google Shape;380;p31"/>
          <p:cNvGraphicFramePr/>
          <p:nvPr/>
        </p:nvGraphicFramePr>
        <p:xfrm>
          <a:off x="914400" y="5611013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2.1.2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Move Forward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Enable , Disable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TurnCount, 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Controller에게 받은 입력을 통해, Motor Interface에 동작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Command에게 “TurnCount를 0으로 초기화”를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3 -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386" name="Google Shape;386;p32"/>
          <p:cNvGraphicFramePr/>
          <p:nvPr/>
        </p:nvGraphicFramePr>
        <p:xfrm>
          <a:off x="952500" y="1918588"/>
          <a:ext cx="10287000" cy="3047875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2.1.3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Terminate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TurnCount가 100 이상이면, RVC의 전원을 종료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7" name="Google Shape;387;p32"/>
          <p:cNvGraphicFramePr/>
          <p:nvPr/>
        </p:nvGraphicFramePr>
        <p:xfrm>
          <a:off x="914400" y="53940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2.1.4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Left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TurnCount, 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Controller에게 받은 입력을 통해, Motor Interface에 동작을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Command에게 “TurnCount에 1을 더함”을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3 -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393" name="Google Shape;393;p33"/>
          <p:cNvGraphicFramePr/>
          <p:nvPr/>
        </p:nvGraphicFramePr>
        <p:xfrm>
          <a:off x="952500" y="19185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2.1.5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Right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TurnCount, 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Controller에게 받은 입력을 통해, Motor Interface에 동작을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Command에게 “TurnCount에 1을 더함”을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4" name="Google Shape;394;p33"/>
          <p:cNvGraphicFramePr/>
          <p:nvPr/>
        </p:nvGraphicFramePr>
        <p:xfrm>
          <a:off x="914400" y="53940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2.1.6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Backward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TurnCount, Motor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Controller에게 받은 입력을 통해, Motor Interface에 동작을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Command에게 “TurnCount에 1을 더함”을 전달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4"/>
          <p:cNvSpPr txBox="1">
            <a:spLocks noGrp="1"/>
          </p:cNvSpPr>
          <p:nvPr>
            <p:ph type="title"/>
          </p:nvPr>
        </p:nvSpPr>
        <p:spPr>
          <a:xfrm>
            <a:off x="838200" y="241019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/>
              <a:t>DFD Level 3 - </a:t>
            </a:r>
            <a:endParaRPr sz="517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/>
              <a:t>Process Specification</a:t>
            </a:r>
            <a:endParaRPr sz="4251"/>
          </a:p>
        </p:txBody>
      </p:sp>
      <p:graphicFrame>
        <p:nvGraphicFramePr>
          <p:cNvPr id="400" name="Google Shape;400;p34"/>
          <p:cNvGraphicFramePr/>
          <p:nvPr/>
        </p:nvGraphicFramePr>
        <p:xfrm>
          <a:off x="952500" y="1918588"/>
          <a:ext cx="10287000" cy="3139310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30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Reference No.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2.1.7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</a:t>
                      </a:r>
                      <a:endParaRPr sz="2000" dirty="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Disable , Enable , PowerUp , Tick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Output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 Command</a:t>
                      </a:r>
                      <a:endParaRPr sz="17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Description</a:t>
                      </a:r>
                      <a:endParaRPr sz="2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Controller에게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받은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입력을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통해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, Clean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Interface에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동작을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전달</a:t>
                      </a:r>
                      <a:endParaRPr sz="1700" dirty="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PowerUp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시,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Cleaner의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출력을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높인다</a:t>
                      </a:r>
                      <a:r>
                        <a:rPr lang="en-US" sz="1700" dirty="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.</a:t>
                      </a:r>
                      <a:endParaRPr sz="1700" dirty="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 txBox="1">
            <a:spLocks noGrp="1"/>
          </p:cNvSpPr>
          <p:nvPr>
            <p:ph type="title"/>
          </p:nvPr>
        </p:nvSpPr>
        <p:spPr>
          <a:xfrm>
            <a:off x="723900" y="-295756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74"/>
              <a:t>DFD Level 3 - </a:t>
            </a:r>
            <a:r>
              <a:rPr lang="en-US" sz="5151"/>
              <a:t>Data Dictionary</a:t>
            </a:r>
            <a:endParaRPr sz="5151"/>
          </a:p>
        </p:txBody>
      </p:sp>
      <p:graphicFrame>
        <p:nvGraphicFramePr>
          <p:cNvPr id="406" name="Google Shape;406;p35"/>
          <p:cNvGraphicFramePr/>
          <p:nvPr/>
        </p:nvGraphicFramePr>
        <p:xfrm>
          <a:off x="838200" y="1035988"/>
          <a:ext cx="10287000" cy="7812614"/>
        </p:xfrm>
        <a:graphic>
          <a:graphicData uri="http://schemas.openxmlformats.org/drawingml/2006/table">
            <a:tbl>
              <a:tblPr>
                <a:noFill/>
                <a:tableStyleId>{F290EB89-0837-42C4-B3A2-DC5C87730512}</a:tableStyleId>
              </a:tblPr>
              <a:tblGrid>
                <a:gridCol w="215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Input / Output Event</a:t>
                      </a:r>
                      <a:endParaRPr sz="15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Format / Type</a:t>
                      </a:r>
                      <a:endParaRPr sz="23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7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front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Interrupt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left side of the RVC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obstacles in the right side of the RVC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Sensor Input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dust on the floor periodically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Front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Obstacles in front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Left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on the left side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Right Obstacle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on the right side of the RVC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Existence(1)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detected in front of RVC by Dust Sensor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True/False, Periodic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Obstacle Location F/L/R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Save Obstacle Location Data(Forward / Left / Right)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 Command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Dust Existence(2)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Save Dust Existence Data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True/False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Command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Cleaner Turn off / Turn 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Direction commands to the motor (go forward / turn left with an angle / turn right with an angle)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Forward / Left / Right / Stop / Backward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Terminate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RVC terminated when TurnCount rises above a certain level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trigger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Clean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off / Turn on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PowerUp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PowerUp for stronger cleaning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 / Off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0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TurnCount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Record the number of times the RVC Rotate to prevent an infinite Loop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if the RVC goes forward, initialize to zero 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integer</a:t>
                      </a:r>
                      <a:endParaRPr sz="11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/>
          <p:nvPr/>
        </p:nvSpPr>
        <p:spPr>
          <a:xfrm>
            <a:off x="5748450" y="951725"/>
            <a:ext cx="695100" cy="708000"/>
          </a:xfrm>
          <a:prstGeom prst="ellipse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36"/>
          <p:cNvCxnSpPr>
            <a:stCxn id="411" idx="4"/>
            <a:endCxn id="413" idx="0"/>
          </p:cNvCxnSpPr>
          <p:nvPr/>
        </p:nvCxnSpPr>
        <p:spPr>
          <a:xfrm>
            <a:off x="6096000" y="1659725"/>
            <a:ext cx="0" cy="1022700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4" name="Google Shape;414;p36"/>
          <p:cNvSpPr txBox="1"/>
          <p:nvPr/>
        </p:nvSpPr>
        <p:spPr>
          <a:xfrm>
            <a:off x="4167891" y="460175"/>
            <a:ext cx="3856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Enable “Move Forward”, </a:t>
            </a:r>
            <a:endParaRPr sz="16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Cleaner Command (On)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36"/>
          <p:cNvCxnSpPr>
            <a:endCxn id="416" idx="1"/>
          </p:cNvCxnSpPr>
          <p:nvPr/>
        </p:nvCxnSpPr>
        <p:spPr>
          <a:xfrm rot="10800000" flipH="1">
            <a:off x="7149320" y="5014119"/>
            <a:ext cx="1883100" cy="1410900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7" name="Google Shape;417;p36"/>
          <p:cNvCxnSpPr>
            <a:endCxn id="418" idx="3"/>
          </p:cNvCxnSpPr>
          <p:nvPr/>
        </p:nvCxnSpPr>
        <p:spPr>
          <a:xfrm flipH="1">
            <a:off x="7149192" y="4789789"/>
            <a:ext cx="1851300" cy="14367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9" name="Google Shape;419;p36"/>
          <p:cNvSpPr txBox="1"/>
          <p:nvPr/>
        </p:nvSpPr>
        <p:spPr>
          <a:xfrm>
            <a:off x="6843785" y="5088306"/>
            <a:ext cx="1577400" cy="4308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* 5 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TurnCount ++  </a:t>
            </a:r>
            <a:endParaRPr/>
          </a:p>
        </p:txBody>
      </p:sp>
      <p:cxnSp>
        <p:nvCxnSpPr>
          <p:cNvPr id="420" name="Google Shape;420;p36"/>
          <p:cNvCxnSpPr>
            <a:stCxn id="418" idx="1"/>
          </p:cNvCxnSpPr>
          <p:nvPr/>
        </p:nvCxnSpPr>
        <p:spPr>
          <a:xfrm rot="10800000">
            <a:off x="3037006" y="5304889"/>
            <a:ext cx="2005800" cy="921600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1" name="Google Shape;421;p36"/>
          <p:cNvCxnSpPr>
            <a:stCxn id="422" idx="3"/>
          </p:cNvCxnSpPr>
          <p:nvPr/>
        </p:nvCxnSpPr>
        <p:spPr>
          <a:xfrm>
            <a:off x="2922235" y="5014119"/>
            <a:ext cx="2050500" cy="1031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3" name="Google Shape;423;p36"/>
          <p:cNvCxnSpPr/>
          <p:nvPr/>
        </p:nvCxnSpPr>
        <p:spPr>
          <a:xfrm>
            <a:off x="6232549" y="3717887"/>
            <a:ext cx="0" cy="2127229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4" name="Google Shape;424;p36"/>
          <p:cNvSpPr txBox="1"/>
          <p:nvPr/>
        </p:nvSpPr>
        <p:spPr>
          <a:xfrm>
            <a:off x="4010622" y="5221568"/>
            <a:ext cx="1053000" cy="4308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* 5 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TurnCount ++ </a:t>
            </a:r>
            <a:endParaRPr/>
          </a:p>
        </p:txBody>
      </p:sp>
      <p:cxnSp>
        <p:nvCxnSpPr>
          <p:cNvPr id="425" name="Google Shape;425;p36"/>
          <p:cNvCxnSpPr/>
          <p:nvPr/>
        </p:nvCxnSpPr>
        <p:spPr>
          <a:xfrm rot="10800000" flipH="1">
            <a:off x="5886507" y="3711220"/>
            <a:ext cx="3" cy="2127229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6" name="Google Shape;426;p36"/>
          <p:cNvCxnSpPr>
            <a:stCxn id="413" idx="3"/>
            <a:endCxn id="413" idx="0"/>
          </p:cNvCxnSpPr>
          <p:nvPr/>
        </p:nvCxnSpPr>
        <p:spPr>
          <a:xfrm rot="10800000">
            <a:off x="6095893" y="2682369"/>
            <a:ext cx="1053300" cy="514500"/>
          </a:xfrm>
          <a:prstGeom prst="curvedConnector4">
            <a:avLst>
              <a:gd name="adj1" fmla="val -62825"/>
              <a:gd name="adj2" fmla="val 144402"/>
            </a:avLst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7" name="Google Shape;427;p36"/>
          <p:cNvCxnSpPr>
            <a:stCxn id="413" idx="1"/>
            <a:endCxn id="413" idx="0"/>
          </p:cNvCxnSpPr>
          <p:nvPr/>
        </p:nvCxnSpPr>
        <p:spPr>
          <a:xfrm rot="10800000" flipH="1">
            <a:off x="5042807" y="2682369"/>
            <a:ext cx="1053300" cy="514500"/>
          </a:xfrm>
          <a:prstGeom prst="curvedConnector4">
            <a:avLst>
              <a:gd name="adj1" fmla="val -64347"/>
              <a:gd name="adj2" fmla="val 144402"/>
            </a:avLst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8" name="Google Shape;428;p36"/>
          <p:cNvCxnSpPr/>
          <p:nvPr/>
        </p:nvCxnSpPr>
        <p:spPr>
          <a:xfrm>
            <a:off x="5978074" y="6607812"/>
            <a:ext cx="0" cy="1419600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9" name="Google Shape;429;p36"/>
          <p:cNvCxnSpPr/>
          <p:nvPr/>
        </p:nvCxnSpPr>
        <p:spPr>
          <a:xfrm rot="10800000">
            <a:off x="5758550" y="6628200"/>
            <a:ext cx="0" cy="1378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0" name="Google Shape;430;p36"/>
          <p:cNvCxnSpPr>
            <a:endCxn id="431" idx="1"/>
          </p:cNvCxnSpPr>
          <p:nvPr/>
        </p:nvCxnSpPr>
        <p:spPr>
          <a:xfrm>
            <a:off x="7141055" y="6504327"/>
            <a:ext cx="2576400" cy="1654200"/>
          </a:xfrm>
          <a:prstGeom prst="straightConnector1">
            <a:avLst/>
          </a:prstGeom>
          <a:noFill/>
          <a:ln w="38100" cap="flat" cmpd="sng">
            <a:solidFill>
              <a:srgbClr val="A1692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3" name="Google Shape;413;p36"/>
          <p:cNvSpPr/>
          <p:nvPr/>
        </p:nvSpPr>
        <p:spPr>
          <a:xfrm>
            <a:off x="5042807" y="2682519"/>
            <a:ext cx="2106386" cy="1028700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b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9032420" y="4499769"/>
            <a:ext cx="2106386" cy="1028700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 Right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815935" y="4499769"/>
            <a:ext cx="2106300" cy="1028700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 Left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5042806" y="5845116"/>
            <a:ext cx="2106386" cy="762746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7879194" y="5751146"/>
            <a:ext cx="1761600" cy="6465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[F &amp;&amp; !R &amp;&amp; L] &amp;&amp; TurnCount &lt; 100 /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“Turn Right” 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6305475" y="3927076"/>
            <a:ext cx="2005800" cy="7389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[F] / 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Disable “Move Forward”, 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Cleaner Command (Off),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762805" y="5961349"/>
            <a:ext cx="1898100" cy="6465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[F &amp;&amp; !L] &amp;&amp; TurnCount &lt; 100 /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“Turn Left”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3719998" y="3974551"/>
            <a:ext cx="2106300" cy="10929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[!F] &amp;&amp; TurnCount &lt; 100 /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 “Move Forward Cleaner Command (On),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turnCount = 0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 txBox="1"/>
          <p:nvPr/>
        </p:nvSpPr>
        <p:spPr>
          <a:xfrm>
            <a:off x="7427708" y="2289013"/>
            <a:ext cx="1725600" cy="4617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Tick[D] / </a:t>
            </a:r>
            <a:b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Cleaner Command (Up)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 txBox="1"/>
          <p:nvPr/>
        </p:nvSpPr>
        <p:spPr>
          <a:xfrm>
            <a:off x="3162729" y="2358006"/>
            <a:ext cx="1617900" cy="4464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Tick[!D] /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Cleaner Command (On)</a:t>
            </a:r>
            <a:endParaRPr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4922544" y="8027357"/>
            <a:ext cx="2346900" cy="831000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 Backward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5990785" y="6994357"/>
            <a:ext cx="1783200" cy="6465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[F &amp;&amp; R &amp;&amp; L] &amp;&amp; TurnCount &lt; 100 /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“Turn Backward”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 txBox="1"/>
          <p:nvPr/>
        </p:nvSpPr>
        <p:spPr>
          <a:xfrm>
            <a:off x="4463711" y="7162719"/>
            <a:ext cx="1211400" cy="4617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 * 10 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TurnCount ++ </a:t>
            </a:r>
            <a:endParaRPr/>
          </a:p>
        </p:txBody>
      </p:sp>
      <p:sp>
        <p:nvSpPr>
          <p:cNvPr id="431" name="Google Shape;431;p36"/>
          <p:cNvSpPr/>
          <p:nvPr/>
        </p:nvSpPr>
        <p:spPr>
          <a:xfrm>
            <a:off x="9717455" y="7644177"/>
            <a:ext cx="2106300" cy="1028700"/>
          </a:xfrm>
          <a:prstGeom prst="roundRect">
            <a:avLst>
              <a:gd name="adj" fmla="val 16667"/>
            </a:avLst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Terminate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 txBox="1"/>
          <p:nvPr/>
        </p:nvSpPr>
        <p:spPr>
          <a:xfrm>
            <a:off x="8089654" y="7250920"/>
            <a:ext cx="1783200" cy="276900"/>
          </a:xfrm>
          <a:prstGeom prst="rect">
            <a:avLst/>
          </a:prstGeom>
          <a:solidFill>
            <a:srgbClr val="A16920"/>
          </a:solidFill>
          <a:ln w="38100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TurnCount == 100 /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06400" y="243840"/>
            <a:ext cx="174329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Level 4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37"/>
          <p:cNvGrpSpPr/>
          <p:nvPr/>
        </p:nvGrpSpPr>
        <p:grpSpPr>
          <a:xfrm>
            <a:off x="0" y="1639675"/>
            <a:ext cx="5219325" cy="4238375"/>
            <a:chOff x="0" y="2249275"/>
            <a:chExt cx="5219325" cy="4238375"/>
          </a:xfrm>
        </p:grpSpPr>
        <p:pic>
          <p:nvPicPr>
            <p:cNvPr id="448" name="Google Shape;448;p37"/>
            <p:cNvPicPr preferRelativeResize="0"/>
            <p:nvPr/>
          </p:nvPicPr>
          <p:blipFill rotWithShape="1">
            <a:blip r:embed="rId3">
              <a:alphaModFix/>
            </a:blip>
            <a:srcRect r="20089"/>
            <a:stretch/>
          </p:blipFill>
          <p:spPr>
            <a:xfrm>
              <a:off x="0" y="2249275"/>
              <a:ext cx="4903700" cy="4238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/>
            <p:nvPr/>
          </p:nvSpPr>
          <p:spPr>
            <a:xfrm>
              <a:off x="4402100" y="3570025"/>
              <a:ext cx="501600" cy="400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471950" y="2954075"/>
              <a:ext cx="501600" cy="400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619450" y="4382700"/>
              <a:ext cx="501600" cy="400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17725" y="5000525"/>
              <a:ext cx="501600" cy="400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53" name="Google Shape;453;p37"/>
          <p:cNvSpPr txBox="1"/>
          <p:nvPr/>
        </p:nvSpPr>
        <p:spPr>
          <a:xfrm>
            <a:off x="478675" y="306525"/>
            <a:ext cx="5295000" cy="9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74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DFD - Overview</a:t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4408025" y="1627700"/>
            <a:ext cx="2158200" cy="101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5" name="Google Shape;45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3025" y="1815200"/>
            <a:ext cx="7328749" cy="625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F70DBDD-E684-F54E-E505-0446767A8D38}"/>
              </a:ext>
            </a:extLst>
          </p:cNvPr>
          <p:cNvGrpSpPr/>
          <p:nvPr/>
        </p:nvGrpSpPr>
        <p:grpSpPr>
          <a:xfrm>
            <a:off x="355914" y="5813425"/>
            <a:ext cx="1236980" cy="727075"/>
            <a:chOff x="1112520" y="6654800"/>
            <a:chExt cx="1236980" cy="7270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6593111-BF7F-5F4A-5149-A5157181E7D5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Front Sensor</a:t>
              </a:r>
            </a:p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Interface</a:t>
              </a:r>
              <a:endParaRPr lang="ko-KR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DA46C8-DF8B-E5A0-D277-6F7758A281CB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0127DEA-FDAD-84B2-B533-BE895173C349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8DCE9C4-4C71-FEB6-C9E1-2FEA6B826ACA}"/>
              </a:ext>
            </a:extLst>
          </p:cNvPr>
          <p:cNvGrpSpPr/>
          <p:nvPr/>
        </p:nvGrpSpPr>
        <p:grpSpPr>
          <a:xfrm>
            <a:off x="3713480" y="7800975"/>
            <a:ext cx="1236980" cy="727075"/>
            <a:chOff x="1112520" y="6654800"/>
            <a:chExt cx="1236980" cy="72707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BC58629-D111-FB21-BDF4-529C1167A606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Move Forward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CC3D6CD-C3C6-9C06-6ED3-1B655BA06601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8E221DF-8231-12A1-DEDB-F00CE88C1E95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10FC56E-9826-7986-473F-AFDA54878FCE}"/>
              </a:ext>
            </a:extLst>
          </p:cNvPr>
          <p:cNvGrpSpPr/>
          <p:nvPr/>
        </p:nvGrpSpPr>
        <p:grpSpPr>
          <a:xfrm>
            <a:off x="4822508" y="5813425"/>
            <a:ext cx="1236980" cy="727075"/>
            <a:chOff x="1112520" y="6654800"/>
            <a:chExt cx="1236980" cy="72707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5C725F4-229C-6892-35B9-50E7BC8108B1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Dust Sensor</a:t>
              </a:r>
            </a:p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Interface</a:t>
              </a:r>
              <a:endParaRPr lang="ko-KR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F06893F-7C85-2A14-2862-A8B18C54A6ED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BE66768-B8ED-7735-AA32-86E47898A824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89C564D-48C1-F45C-E88A-7511F6FF67A8}"/>
              </a:ext>
            </a:extLst>
          </p:cNvPr>
          <p:cNvGrpSpPr/>
          <p:nvPr/>
        </p:nvGrpSpPr>
        <p:grpSpPr>
          <a:xfrm>
            <a:off x="3236277" y="5792470"/>
            <a:ext cx="1236980" cy="727075"/>
            <a:chOff x="1112520" y="6654800"/>
            <a:chExt cx="1236980" cy="727075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E47B811-D9A4-1AC7-68A1-E891355FF687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Right Sensor</a:t>
              </a:r>
            </a:p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Interface</a:t>
              </a:r>
              <a:endParaRPr lang="ko-KR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D8B7956-CCF9-7205-A529-8658A564B250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A016708-1A86-07C7-E387-E62DB4CCBB96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F4D453F-CB69-3B1B-A6A3-110FE4D49766}"/>
              </a:ext>
            </a:extLst>
          </p:cNvPr>
          <p:cNvGrpSpPr/>
          <p:nvPr/>
        </p:nvGrpSpPr>
        <p:grpSpPr>
          <a:xfrm>
            <a:off x="1829115" y="5813425"/>
            <a:ext cx="1236980" cy="727075"/>
            <a:chOff x="1112520" y="6654800"/>
            <a:chExt cx="1236980" cy="72707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C79DFD4-BCE7-3FCD-9707-D9DF6B461860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Left Sensor</a:t>
              </a:r>
            </a:p>
            <a:p>
              <a:pPr algn="ctr"/>
              <a:r>
                <a:rPr lang="en-US" altLang="ko-KR" sz="1200" dirty="0">
                  <a:latin typeface="Georgia" panose="02040502050405020303" pitchFamily="18" charset="0"/>
                </a:rPr>
                <a:t>Interface</a:t>
              </a:r>
              <a:endParaRPr lang="ko-KR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8C5D56A-D8AE-70EC-E549-4E09EEA2B367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7E7663E-27AC-6867-F24E-300F4424AD8C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F08D178-0645-9526-0D51-1D9562D0527A}"/>
              </a:ext>
            </a:extLst>
          </p:cNvPr>
          <p:cNvGrpSpPr/>
          <p:nvPr/>
        </p:nvGrpSpPr>
        <p:grpSpPr>
          <a:xfrm>
            <a:off x="7917179" y="7800974"/>
            <a:ext cx="1236980" cy="727075"/>
            <a:chOff x="1112520" y="6654800"/>
            <a:chExt cx="1236980" cy="72707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5F342CD-66F7-3408-2DB2-1C2FE1E81C1A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Turn Right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D579631-CA16-372F-E08C-846F8605255C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6E95FB8-87B4-C892-96A2-87D36351DBCB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5DC5460-D7C1-32EB-B484-22EC6BF58B67}"/>
              </a:ext>
            </a:extLst>
          </p:cNvPr>
          <p:cNvGrpSpPr/>
          <p:nvPr/>
        </p:nvGrpSpPr>
        <p:grpSpPr>
          <a:xfrm>
            <a:off x="6516370" y="7795895"/>
            <a:ext cx="1236980" cy="727075"/>
            <a:chOff x="1112520" y="6654800"/>
            <a:chExt cx="1236980" cy="72707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5EABFBF-7818-1387-9F15-27BFD78A12DB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Turn Left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2B67148-9DB9-B7B1-8AE3-5FE0725C7911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A384492-2C56-C700-6170-B6CA6AFDCA90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B10A63E-DD8C-864D-E6A7-88ABA7BAAA36}"/>
              </a:ext>
            </a:extLst>
          </p:cNvPr>
          <p:cNvGrpSpPr/>
          <p:nvPr/>
        </p:nvGrpSpPr>
        <p:grpSpPr>
          <a:xfrm>
            <a:off x="5115561" y="7800975"/>
            <a:ext cx="1236980" cy="727075"/>
            <a:chOff x="1112520" y="6654800"/>
            <a:chExt cx="1236980" cy="72707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0528E21-755D-1C17-367F-E3176B744DA8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Terminate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9878CE3-EAA5-CA6B-13E8-BB1A6ACA8F52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EFF14C2-A490-A5A7-7DCD-4702E4539C4B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C285C73-5B67-8C55-1C6D-A0A2DB3596ED}"/>
              </a:ext>
            </a:extLst>
          </p:cNvPr>
          <p:cNvGrpSpPr/>
          <p:nvPr/>
        </p:nvGrpSpPr>
        <p:grpSpPr>
          <a:xfrm>
            <a:off x="10751817" y="7795895"/>
            <a:ext cx="1236980" cy="727075"/>
            <a:chOff x="1112520" y="6654800"/>
            <a:chExt cx="1236980" cy="72707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CCB8B8A-2597-184A-EB5D-C40D915A25D9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Clean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42EDC2F-22B5-77E5-22DC-12EE4DE0A795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5597455-10D9-13C1-D6E9-ADAC33FF0DDA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01F35B2-FBCD-5686-F7CC-24A3020289A3}"/>
              </a:ext>
            </a:extLst>
          </p:cNvPr>
          <p:cNvGrpSpPr/>
          <p:nvPr/>
        </p:nvGrpSpPr>
        <p:grpSpPr>
          <a:xfrm>
            <a:off x="9351008" y="7790816"/>
            <a:ext cx="1236980" cy="727075"/>
            <a:chOff x="1112520" y="6654800"/>
            <a:chExt cx="1236980" cy="72707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85177E6-E745-4110-430E-A6AA4E84916A}"/>
                </a:ext>
              </a:extLst>
            </p:cNvPr>
            <p:cNvSpPr/>
            <p:nvPr/>
          </p:nvSpPr>
          <p:spPr>
            <a:xfrm>
              <a:off x="1112520" y="6654800"/>
              <a:ext cx="1236980" cy="706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Georgia" panose="02040502050405020303" pitchFamily="18" charset="0"/>
                </a:rPr>
                <a:t>Turn Backward</a:t>
              </a:r>
              <a:endParaRPr lang="ko-KR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F5AEA2E-D65E-7160-341A-3A63FDD54A3B}"/>
                </a:ext>
              </a:extLst>
            </p:cNvPr>
            <p:cNvSpPr/>
            <p:nvPr/>
          </p:nvSpPr>
          <p:spPr>
            <a:xfrm>
              <a:off x="2217420" y="6654800"/>
              <a:ext cx="45719" cy="7061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95C4D32-F2E1-A4D8-A48D-3E2B93A6AA93}"/>
                </a:ext>
              </a:extLst>
            </p:cNvPr>
            <p:cNvSpPr/>
            <p:nvPr/>
          </p:nvSpPr>
          <p:spPr>
            <a:xfrm>
              <a:off x="1203960" y="6654800"/>
              <a:ext cx="45719" cy="7270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eorgia" panose="02040502050405020303" pitchFamily="18" charset="0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6112AB9-AB86-82A8-7FF8-8EDD172A516D}"/>
              </a:ext>
            </a:extLst>
          </p:cNvPr>
          <p:cNvSpPr/>
          <p:nvPr/>
        </p:nvSpPr>
        <p:spPr>
          <a:xfrm>
            <a:off x="1849910" y="4499769"/>
            <a:ext cx="1195389" cy="70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Georgia" panose="02040502050405020303" pitchFamily="18" charset="0"/>
              </a:rPr>
              <a:t>Determine Obstacle Location</a:t>
            </a:r>
            <a:endParaRPr lang="ko-KR" altLang="en-US" sz="1200" dirty="0">
              <a:latin typeface="Georgia" panose="02040502050405020303" pitchFamily="18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FB0DE2A-B19A-0A85-1C71-2B577CA0C03E}"/>
              </a:ext>
            </a:extLst>
          </p:cNvPr>
          <p:cNvSpPr/>
          <p:nvPr/>
        </p:nvSpPr>
        <p:spPr>
          <a:xfrm>
            <a:off x="4843303" y="4499769"/>
            <a:ext cx="1195389" cy="70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Georgia" panose="02040502050405020303" pitchFamily="18" charset="0"/>
              </a:rPr>
              <a:t>Determine Dust Existence</a:t>
            </a:r>
            <a:endParaRPr lang="ko-KR" altLang="en-US" sz="1200" dirty="0">
              <a:latin typeface="Georgia" panose="02040502050405020303" pitchFamily="18" charset="0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49C7819-680B-FAC5-63A7-BD8039E59E42}"/>
              </a:ext>
            </a:extLst>
          </p:cNvPr>
          <p:cNvCxnSpPr>
            <a:stCxn id="61" idx="2"/>
            <a:endCxn id="36" idx="0"/>
          </p:cNvCxnSpPr>
          <p:nvPr/>
        </p:nvCxnSpPr>
        <p:spPr>
          <a:xfrm>
            <a:off x="2447605" y="5205889"/>
            <a:ext cx="0" cy="6075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07BC763C-54F1-5A3F-74B6-948E1693A5FB}"/>
              </a:ext>
            </a:extLst>
          </p:cNvPr>
          <p:cNvCxnSpPr>
            <a:endCxn id="4" idx="0"/>
          </p:cNvCxnSpPr>
          <p:nvPr/>
        </p:nvCxnSpPr>
        <p:spPr>
          <a:xfrm rot="10800000" flipV="1">
            <a:off x="974404" y="5509657"/>
            <a:ext cx="1473200" cy="30376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CE62CE25-7202-37B1-482F-FDBA849D0312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2435540" y="5509657"/>
            <a:ext cx="1419227" cy="28281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DF996CEE-7EA8-0448-001A-47886E50FA84}"/>
              </a:ext>
            </a:extLst>
          </p:cNvPr>
          <p:cNvCxnSpPr>
            <a:stCxn id="62" idx="2"/>
            <a:endCxn id="28" idx="0"/>
          </p:cNvCxnSpPr>
          <p:nvPr/>
        </p:nvCxnSpPr>
        <p:spPr>
          <a:xfrm>
            <a:off x="5440998" y="5205889"/>
            <a:ext cx="0" cy="6075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1AFB86B-BB6B-28EE-6A5B-8D71185808C8}"/>
              </a:ext>
            </a:extLst>
          </p:cNvPr>
          <p:cNvSpPr/>
          <p:nvPr/>
        </p:nvSpPr>
        <p:spPr>
          <a:xfrm>
            <a:off x="8298115" y="3151486"/>
            <a:ext cx="1195389" cy="70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eorgia" panose="02040502050405020303" pitchFamily="18" charset="0"/>
              </a:rPr>
              <a:t>Controller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604D166-73C9-4C55-1081-F15EA3300632}"/>
              </a:ext>
            </a:extLst>
          </p:cNvPr>
          <p:cNvCxnSpPr>
            <a:cxnSpLocks/>
            <a:stCxn id="74" idx="2"/>
            <a:endCxn id="62" idx="0"/>
          </p:cNvCxnSpPr>
          <p:nvPr/>
        </p:nvCxnSpPr>
        <p:spPr>
          <a:xfrm flipH="1">
            <a:off x="5440998" y="3857606"/>
            <a:ext cx="3454812" cy="6421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07B0FC6-09CD-D6A9-1DD7-3FF1F175766E}"/>
              </a:ext>
            </a:extLst>
          </p:cNvPr>
          <p:cNvCxnSpPr>
            <a:cxnSpLocks/>
            <a:stCxn id="74" idx="2"/>
            <a:endCxn id="61" idx="0"/>
          </p:cNvCxnSpPr>
          <p:nvPr/>
        </p:nvCxnSpPr>
        <p:spPr>
          <a:xfrm flipH="1">
            <a:off x="2447605" y="3857606"/>
            <a:ext cx="6448205" cy="6421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0CE38DC8-1C8D-BD67-3CEB-529226F5BEE3}"/>
              </a:ext>
            </a:extLst>
          </p:cNvPr>
          <p:cNvCxnSpPr>
            <a:cxnSpLocks/>
            <a:stCxn id="108" idx="2"/>
            <a:endCxn id="24" idx="0"/>
          </p:cNvCxnSpPr>
          <p:nvPr/>
        </p:nvCxnSpPr>
        <p:spPr>
          <a:xfrm flipH="1">
            <a:off x="4331970" y="4143375"/>
            <a:ext cx="4585018" cy="36576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DF82EF8-7B9B-5E80-E2F4-97A7745F9D67}"/>
              </a:ext>
            </a:extLst>
          </p:cNvPr>
          <p:cNvCxnSpPr>
            <a:cxnSpLocks/>
            <a:stCxn id="108" idx="2"/>
            <a:endCxn id="58" idx="0"/>
          </p:cNvCxnSpPr>
          <p:nvPr/>
        </p:nvCxnSpPr>
        <p:spPr>
          <a:xfrm>
            <a:off x="8916988" y="4143375"/>
            <a:ext cx="1052510" cy="36474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49B7AD6-0616-5262-2416-5440D5739693}"/>
              </a:ext>
            </a:extLst>
          </p:cNvPr>
          <p:cNvCxnSpPr>
            <a:cxnSpLocks/>
            <a:stCxn id="108" idx="2"/>
            <a:endCxn id="40" idx="0"/>
          </p:cNvCxnSpPr>
          <p:nvPr/>
        </p:nvCxnSpPr>
        <p:spPr>
          <a:xfrm flipH="1">
            <a:off x="8535669" y="4143375"/>
            <a:ext cx="381319" cy="36575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B2054C4-C26B-E0B0-F460-CE849A13A466}"/>
              </a:ext>
            </a:extLst>
          </p:cNvPr>
          <p:cNvCxnSpPr>
            <a:cxnSpLocks/>
            <a:stCxn id="108" idx="2"/>
            <a:endCxn id="44" idx="0"/>
          </p:cNvCxnSpPr>
          <p:nvPr/>
        </p:nvCxnSpPr>
        <p:spPr>
          <a:xfrm flipH="1">
            <a:off x="7134860" y="4143375"/>
            <a:ext cx="1782128" cy="3652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3DB7935-1E37-CE2F-3635-8930C1D2DDC3}"/>
              </a:ext>
            </a:extLst>
          </p:cNvPr>
          <p:cNvCxnSpPr>
            <a:cxnSpLocks/>
            <a:stCxn id="108" idx="2"/>
            <a:endCxn id="48" idx="0"/>
          </p:cNvCxnSpPr>
          <p:nvPr/>
        </p:nvCxnSpPr>
        <p:spPr>
          <a:xfrm flipH="1">
            <a:off x="5734051" y="4143375"/>
            <a:ext cx="3182937" cy="36576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C6CD572F-6BA2-EAC7-C53F-C203C32E7EF3}"/>
              </a:ext>
            </a:extLst>
          </p:cNvPr>
          <p:cNvCxnSpPr>
            <a:cxnSpLocks/>
            <a:stCxn id="108" idx="2"/>
            <a:endCxn id="54" idx="0"/>
          </p:cNvCxnSpPr>
          <p:nvPr/>
        </p:nvCxnSpPr>
        <p:spPr>
          <a:xfrm>
            <a:off x="8916988" y="4143375"/>
            <a:ext cx="2453319" cy="3652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3FEA77A-9D98-C401-D64C-C3966B96E526}"/>
              </a:ext>
            </a:extLst>
          </p:cNvPr>
          <p:cNvSpPr/>
          <p:nvPr/>
        </p:nvSpPr>
        <p:spPr>
          <a:xfrm>
            <a:off x="8298115" y="1435478"/>
            <a:ext cx="1195389" cy="70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Georgia" panose="02040502050405020303" pitchFamily="18" charset="0"/>
              </a:rPr>
              <a:t>Main</a:t>
            </a:r>
            <a:endParaRPr lang="ko-KR" altLang="en-US" sz="2400" dirty="0">
              <a:latin typeface="Georgia" panose="02040502050405020303" pitchFamily="18" charset="0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11C95FE-ED40-E191-94FF-B98DC6C176D8}"/>
              </a:ext>
            </a:extLst>
          </p:cNvPr>
          <p:cNvCxnSpPr>
            <a:cxnSpLocks/>
            <a:stCxn id="103" idx="2"/>
            <a:endCxn id="74" idx="0"/>
          </p:cNvCxnSpPr>
          <p:nvPr/>
        </p:nvCxnSpPr>
        <p:spPr>
          <a:xfrm>
            <a:off x="8895810" y="2141598"/>
            <a:ext cx="0" cy="10098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다이아몬드 107">
            <a:extLst>
              <a:ext uri="{FF2B5EF4-FFF2-40B4-BE49-F238E27FC236}">
                <a16:creationId xmlns:a16="http://schemas.microsoft.com/office/drawing/2014/main" id="{A283EE86-1999-CB14-89D2-AC8624253C62}"/>
              </a:ext>
            </a:extLst>
          </p:cNvPr>
          <p:cNvSpPr/>
          <p:nvPr/>
        </p:nvSpPr>
        <p:spPr>
          <a:xfrm>
            <a:off x="8811897" y="3867309"/>
            <a:ext cx="210182" cy="27606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A0DDABC-3DB6-753F-4AA7-7119679CB72A}"/>
              </a:ext>
            </a:extLst>
          </p:cNvPr>
          <p:cNvGrpSpPr/>
          <p:nvPr/>
        </p:nvGrpSpPr>
        <p:grpSpPr>
          <a:xfrm>
            <a:off x="1752116" y="1114465"/>
            <a:ext cx="654632" cy="264319"/>
            <a:chOff x="3586374" y="3484133"/>
            <a:chExt cx="654632" cy="264319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7B0DDB5D-8445-58B8-C5F9-6EE6EFF57C76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41CAF650-7F4C-AD5E-46BD-8C0D21E950B5}"/>
                </a:ext>
              </a:extLst>
            </p:cNvPr>
            <p:cNvCxnSpPr>
              <a:cxnSpLocks/>
              <a:stCxn id="126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0CF29D71-63BE-A002-7DB4-5FFE15F55368}"/>
              </a:ext>
            </a:extLst>
          </p:cNvPr>
          <p:cNvGrpSpPr/>
          <p:nvPr/>
        </p:nvGrpSpPr>
        <p:grpSpPr>
          <a:xfrm>
            <a:off x="391788" y="1092486"/>
            <a:ext cx="654632" cy="264319"/>
            <a:chOff x="3586374" y="3808911"/>
            <a:chExt cx="654632" cy="264319"/>
          </a:xfrm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5F4EE4EB-FB13-7010-2F70-8BA8FCB23406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8" name="직선 화살표 연결선 137">
              <a:extLst>
                <a:ext uri="{FF2B5EF4-FFF2-40B4-BE49-F238E27FC236}">
                  <a16:creationId xmlns:a16="http://schemas.microsoft.com/office/drawing/2014/main" id="{54E1F64B-74F5-8C70-447D-D60DE0E5936C}"/>
                </a:ext>
              </a:extLst>
            </p:cNvPr>
            <p:cNvCxnSpPr>
              <a:cxnSpLocks/>
              <a:stCxn id="137" idx="6"/>
            </p:cNvCxnSpPr>
            <p:nvPr/>
          </p:nvCxnSpPr>
          <p:spPr>
            <a:xfrm>
              <a:off x="3842378" y="3941071"/>
              <a:ext cx="3986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83802C37-CE53-4AB6-9B6C-DE5F4AC282A2}"/>
              </a:ext>
            </a:extLst>
          </p:cNvPr>
          <p:cNvGrpSpPr/>
          <p:nvPr/>
        </p:nvGrpSpPr>
        <p:grpSpPr>
          <a:xfrm>
            <a:off x="2283055" y="4067030"/>
            <a:ext cx="1053414" cy="264319"/>
            <a:chOff x="3586374" y="3808911"/>
            <a:chExt cx="1053414" cy="26431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93B2FA04-1E45-4CE5-80A2-ADDC37448F55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A0CF4314-7E39-4CC0-962E-57AB02909D68}"/>
                </a:ext>
              </a:extLst>
            </p:cNvPr>
            <p:cNvCxnSpPr>
              <a:cxnSpLocks/>
              <a:stCxn id="70" idx="6"/>
            </p:cNvCxnSpPr>
            <p:nvPr/>
          </p:nvCxnSpPr>
          <p:spPr>
            <a:xfrm flipV="1">
              <a:off x="3842378" y="3808911"/>
              <a:ext cx="797410" cy="1321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50001F8-57D4-428A-BD09-1B65C1D1AD23}"/>
              </a:ext>
            </a:extLst>
          </p:cNvPr>
          <p:cNvSpPr txBox="1"/>
          <p:nvPr/>
        </p:nvSpPr>
        <p:spPr>
          <a:xfrm>
            <a:off x="241614" y="1423231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Georgia" panose="02040502050405020303" pitchFamily="18" charset="0"/>
              </a:rPr>
              <a:t>Flow</a:t>
            </a:r>
            <a:endParaRPr lang="ko-KR" alt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F7A66F-3785-4894-A734-E8E08A728D7E}"/>
              </a:ext>
            </a:extLst>
          </p:cNvPr>
          <p:cNvSpPr txBox="1"/>
          <p:nvPr/>
        </p:nvSpPr>
        <p:spPr>
          <a:xfrm>
            <a:off x="1572514" y="1408268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Control </a:t>
            </a:r>
            <a:r>
              <a:rPr lang="en-US" altLang="ko-KR" dirty="0">
                <a:solidFill>
                  <a:schemeClr val="bg1"/>
                </a:solidFill>
                <a:latin typeface="Georgia" panose="02040502050405020303" pitchFamily="18" charset="0"/>
              </a:rPr>
              <a:t>Flow</a:t>
            </a:r>
            <a:endParaRPr lang="ko-KR" alt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61BDA5D-F1FF-41E3-917B-9E7116CE76AE}"/>
              </a:ext>
            </a:extLst>
          </p:cNvPr>
          <p:cNvGrpSpPr/>
          <p:nvPr/>
        </p:nvGrpSpPr>
        <p:grpSpPr>
          <a:xfrm>
            <a:off x="5042586" y="3867309"/>
            <a:ext cx="1053414" cy="264319"/>
            <a:chOff x="3586374" y="3808911"/>
            <a:chExt cx="1053414" cy="264319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7C907A9A-E539-43A0-AF6F-EBD7816FD92C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5447E684-7655-4414-856B-B789CC0D965D}"/>
                </a:ext>
              </a:extLst>
            </p:cNvPr>
            <p:cNvCxnSpPr>
              <a:cxnSpLocks/>
              <a:stCxn id="81" idx="6"/>
            </p:cNvCxnSpPr>
            <p:nvPr/>
          </p:nvCxnSpPr>
          <p:spPr>
            <a:xfrm flipV="1">
              <a:off x="3842378" y="3808911"/>
              <a:ext cx="797410" cy="1321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A3D068-874D-4CDB-9216-5F06379D393D}"/>
              </a:ext>
            </a:extLst>
          </p:cNvPr>
          <p:cNvSpPr txBox="1"/>
          <p:nvPr/>
        </p:nvSpPr>
        <p:spPr>
          <a:xfrm>
            <a:off x="1953387" y="3776149"/>
            <a:ext cx="1401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Obstacle Location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55BB88-0343-452D-AB2C-6923C81A2877}"/>
              </a:ext>
            </a:extLst>
          </p:cNvPr>
          <p:cNvSpPr txBox="1"/>
          <p:nvPr/>
        </p:nvSpPr>
        <p:spPr>
          <a:xfrm>
            <a:off x="4778569" y="3591700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Dust Existence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1FF3745-F157-49FC-8132-EF3F7AD4AD5D}"/>
              </a:ext>
            </a:extLst>
          </p:cNvPr>
          <p:cNvGrpSpPr/>
          <p:nvPr/>
        </p:nvGrpSpPr>
        <p:grpSpPr>
          <a:xfrm rot="8473815">
            <a:off x="7139929" y="4932504"/>
            <a:ext cx="654632" cy="264319"/>
            <a:chOff x="3586374" y="3484133"/>
            <a:chExt cx="654632" cy="264319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A4DC84E4-D789-4CAD-9080-37EC50778265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98981DCC-5CA0-4F81-A381-A1B422547A7C}"/>
                </a:ext>
              </a:extLst>
            </p:cNvPr>
            <p:cNvCxnSpPr>
              <a:cxnSpLocks/>
              <a:stCxn id="85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84D02B5-2C63-4C9F-BE66-08FC24870E1D}"/>
              </a:ext>
            </a:extLst>
          </p:cNvPr>
          <p:cNvSpPr txBox="1"/>
          <p:nvPr/>
        </p:nvSpPr>
        <p:spPr>
          <a:xfrm>
            <a:off x="6849780" y="4453587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Enable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Disable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BAA8088-B946-45E1-AB35-AE4D63876240}"/>
              </a:ext>
            </a:extLst>
          </p:cNvPr>
          <p:cNvGrpSpPr/>
          <p:nvPr/>
        </p:nvGrpSpPr>
        <p:grpSpPr>
          <a:xfrm rot="8473815">
            <a:off x="7576593" y="5469608"/>
            <a:ext cx="636599" cy="366389"/>
            <a:chOff x="3586374" y="3383820"/>
            <a:chExt cx="636599" cy="366389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2CC321E2-CA60-4A81-BE56-6D32374E7FF6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C42E88A2-9BCA-4930-8A08-3EC373A413AC}"/>
                </a:ext>
              </a:extLst>
            </p:cNvPr>
            <p:cNvCxnSpPr>
              <a:cxnSpLocks/>
              <a:stCxn id="93" idx="6"/>
            </p:cNvCxnSpPr>
            <p:nvPr/>
          </p:nvCxnSpPr>
          <p:spPr>
            <a:xfrm rot="13126185" flipH="1">
              <a:off x="3924175" y="3383820"/>
              <a:ext cx="298798" cy="366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E1A5A579-8828-401E-8C29-C9CEDD2A1B8E}"/>
              </a:ext>
            </a:extLst>
          </p:cNvPr>
          <p:cNvSpPr txBox="1"/>
          <p:nvPr/>
        </p:nvSpPr>
        <p:spPr>
          <a:xfrm>
            <a:off x="7254837" y="5924255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Trigger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AA2FEE5A-3296-4F11-B91B-7E3EBB9DFE4B}"/>
              </a:ext>
            </a:extLst>
          </p:cNvPr>
          <p:cNvGrpSpPr/>
          <p:nvPr/>
        </p:nvGrpSpPr>
        <p:grpSpPr>
          <a:xfrm rot="6882846">
            <a:off x="8099216" y="5558001"/>
            <a:ext cx="654632" cy="264319"/>
            <a:chOff x="3586374" y="3484133"/>
            <a:chExt cx="654632" cy="264319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930B3DB4-0347-47B0-BB0B-E2CCCA9E5ED7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1071C2D1-8432-4CCC-BD03-00740DB017F8}"/>
                </a:ext>
              </a:extLst>
            </p:cNvPr>
            <p:cNvCxnSpPr>
              <a:cxnSpLocks/>
              <a:stCxn id="97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C51CF512-BEC8-427B-AC92-5F194FD524B1}"/>
              </a:ext>
            </a:extLst>
          </p:cNvPr>
          <p:cNvSpPr txBox="1"/>
          <p:nvPr/>
        </p:nvSpPr>
        <p:spPr>
          <a:xfrm>
            <a:off x="7933444" y="5950454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Trigger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F3C54B5E-07F4-43F3-9FE0-783ED4E32C88}"/>
              </a:ext>
            </a:extLst>
          </p:cNvPr>
          <p:cNvGrpSpPr/>
          <p:nvPr/>
        </p:nvGrpSpPr>
        <p:grpSpPr>
          <a:xfrm rot="5593731">
            <a:off x="8644815" y="5550115"/>
            <a:ext cx="654632" cy="264319"/>
            <a:chOff x="3586374" y="3484133"/>
            <a:chExt cx="654632" cy="264319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42F422C0-27D2-4942-81A6-47C25C9BE21E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id="{748D9A9C-9C59-4333-83FC-7EB5CB838F8E}"/>
                </a:ext>
              </a:extLst>
            </p:cNvPr>
            <p:cNvCxnSpPr>
              <a:cxnSpLocks/>
              <a:stCxn id="102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B49F0F6-1BFC-4A02-A2BA-A2561398C02D}"/>
              </a:ext>
            </a:extLst>
          </p:cNvPr>
          <p:cNvSpPr txBox="1"/>
          <p:nvPr/>
        </p:nvSpPr>
        <p:spPr>
          <a:xfrm>
            <a:off x="8692760" y="5965859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Trigger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5122DE2-BA12-434E-AA7E-83DB67C54298}"/>
              </a:ext>
            </a:extLst>
          </p:cNvPr>
          <p:cNvGrpSpPr/>
          <p:nvPr/>
        </p:nvGrpSpPr>
        <p:grpSpPr>
          <a:xfrm rot="4307636">
            <a:off x="9221341" y="5463282"/>
            <a:ext cx="654632" cy="264319"/>
            <a:chOff x="3586374" y="3484133"/>
            <a:chExt cx="654632" cy="264319"/>
          </a:xfrm>
        </p:grpSpPr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3EEC8763-BBE0-46A1-8EED-3E306479C15F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0B2D6790-BCD4-4F7B-9409-C78E8D159A3C}"/>
                </a:ext>
              </a:extLst>
            </p:cNvPr>
            <p:cNvCxnSpPr>
              <a:cxnSpLocks/>
              <a:stCxn id="109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AAB4D61-27C4-4E09-8AEE-60407C590BFC}"/>
              </a:ext>
            </a:extLst>
          </p:cNvPr>
          <p:cNvSpPr txBox="1"/>
          <p:nvPr/>
        </p:nvSpPr>
        <p:spPr>
          <a:xfrm>
            <a:off x="9375575" y="5899252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Trigger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837BD9A-2C3D-4B57-838D-75760B4313F5}"/>
              </a:ext>
            </a:extLst>
          </p:cNvPr>
          <p:cNvSpPr txBox="1"/>
          <p:nvPr/>
        </p:nvSpPr>
        <p:spPr>
          <a:xfrm>
            <a:off x="9997451" y="4691239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Enable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Georgia" panose="02040502050405020303" pitchFamily="18" charset="0"/>
              </a:rPr>
              <a:t>Disable</a:t>
            </a:r>
          </a:p>
          <a:p>
            <a:r>
              <a:rPr lang="en-US" altLang="ko-KR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PowerUp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DCD84AA-AAA7-4015-870E-6AA496333459}"/>
              </a:ext>
            </a:extLst>
          </p:cNvPr>
          <p:cNvGrpSpPr/>
          <p:nvPr/>
        </p:nvGrpSpPr>
        <p:grpSpPr>
          <a:xfrm rot="3230426">
            <a:off x="9638720" y="5179866"/>
            <a:ext cx="654632" cy="264319"/>
            <a:chOff x="3586374" y="3484133"/>
            <a:chExt cx="654632" cy="264319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36411BD-739E-4636-9E25-4726A29F480A}"/>
                </a:ext>
              </a:extLst>
            </p:cNvPr>
            <p:cNvSpPr/>
            <p:nvPr/>
          </p:nvSpPr>
          <p:spPr>
            <a:xfrm>
              <a:off x="3586374" y="3484133"/>
              <a:ext cx="256004" cy="2643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5A9D6D1B-57E6-4F67-B728-9B017C4F0F21}"/>
                </a:ext>
              </a:extLst>
            </p:cNvPr>
            <p:cNvCxnSpPr>
              <a:cxnSpLocks/>
              <a:stCxn id="114" idx="6"/>
            </p:cNvCxnSpPr>
            <p:nvPr/>
          </p:nvCxnSpPr>
          <p:spPr>
            <a:xfrm>
              <a:off x="3842378" y="3616293"/>
              <a:ext cx="3986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F5824BF-209A-439C-A234-40BEEB889B37}"/>
              </a:ext>
            </a:extLst>
          </p:cNvPr>
          <p:cNvGrpSpPr/>
          <p:nvPr/>
        </p:nvGrpSpPr>
        <p:grpSpPr>
          <a:xfrm>
            <a:off x="7384045" y="6419139"/>
            <a:ext cx="629942" cy="1246532"/>
            <a:chOff x="3586374" y="2826698"/>
            <a:chExt cx="629942" cy="1246532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4B2FC3F-13CC-471D-8896-E9734FDB9C37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A21097E9-2A86-431E-B5E1-07097ADAF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4716" y="2826698"/>
              <a:ext cx="461600" cy="100454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FCF0DBC4-E2F6-48B3-BD54-5BDEFD782A30}"/>
              </a:ext>
            </a:extLst>
          </p:cNvPr>
          <p:cNvSpPr txBox="1"/>
          <p:nvPr/>
        </p:nvSpPr>
        <p:spPr>
          <a:xfrm>
            <a:off x="7591813" y="7365456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TurnCount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D23F96D3-D846-4788-90BB-1CD6E58AA480}"/>
              </a:ext>
            </a:extLst>
          </p:cNvPr>
          <p:cNvGrpSpPr/>
          <p:nvPr/>
        </p:nvGrpSpPr>
        <p:grpSpPr>
          <a:xfrm>
            <a:off x="8580098" y="6381845"/>
            <a:ext cx="329509" cy="1336275"/>
            <a:chOff x="3586374" y="2736955"/>
            <a:chExt cx="329509" cy="1336275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40DA91C0-D19C-4F63-8965-CC81E73CAB76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7CE11624-D5B3-46F2-BF8A-4D24DE155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4716" y="2736955"/>
              <a:ext cx="161167" cy="109428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5567FD89-36CB-4C48-B350-0AF4B5C90F48}"/>
              </a:ext>
            </a:extLst>
          </p:cNvPr>
          <p:cNvSpPr txBox="1"/>
          <p:nvPr/>
        </p:nvSpPr>
        <p:spPr>
          <a:xfrm>
            <a:off x="8769869" y="7411726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TurnCount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1601FA82-AF0A-45FC-9826-E0CB91E30976}"/>
              </a:ext>
            </a:extLst>
          </p:cNvPr>
          <p:cNvGrpSpPr/>
          <p:nvPr/>
        </p:nvGrpSpPr>
        <p:grpSpPr>
          <a:xfrm>
            <a:off x="9743806" y="6498590"/>
            <a:ext cx="500510" cy="1232407"/>
            <a:chOff x="3341868" y="2840823"/>
            <a:chExt cx="500510" cy="1232407"/>
          </a:xfrm>
        </p:grpSpPr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F65CE3F0-36C2-43FB-93CF-C75E6D2A08E9}"/>
                </a:ext>
              </a:extLst>
            </p:cNvPr>
            <p:cNvSpPr/>
            <p:nvPr/>
          </p:nvSpPr>
          <p:spPr>
            <a:xfrm>
              <a:off x="3586374" y="380891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2BDFF69B-EC53-487A-9506-AED0E0907C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1868" y="2840823"/>
              <a:ext cx="358970" cy="9904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E49288F2-4733-41B2-9902-CEC85B3268A0}"/>
              </a:ext>
            </a:extLst>
          </p:cNvPr>
          <p:cNvSpPr txBox="1"/>
          <p:nvPr/>
        </p:nvSpPr>
        <p:spPr>
          <a:xfrm>
            <a:off x="10208800" y="7428771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TurnCount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11CAC05D-5C2A-4438-97BA-EAE63B94F1CA}"/>
              </a:ext>
            </a:extLst>
          </p:cNvPr>
          <p:cNvGrpSpPr/>
          <p:nvPr/>
        </p:nvGrpSpPr>
        <p:grpSpPr>
          <a:xfrm>
            <a:off x="4685823" y="6754218"/>
            <a:ext cx="1260920" cy="1043612"/>
            <a:chOff x="3673220" y="3073568"/>
            <a:chExt cx="1260920" cy="1043612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BDC69FC-0991-4DD9-8990-7BB166925330}"/>
                </a:ext>
              </a:extLst>
            </p:cNvPr>
            <p:cNvSpPr/>
            <p:nvPr/>
          </p:nvSpPr>
          <p:spPr>
            <a:xfrm>
              <a:off x="3673220" y="3852861"/>
              <a:ext cx="256004" cy="264319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B2C731E3-0829-400F-93D7-72B149A3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0142" y="3073568"/>
              <a:ext cx="1023998" cy="8446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2B5901BB-4466-4233-BA5A-F4DC984A3591}"/>
              </a:ext>
            </a:extLst>
          </p:cNvPr>
          <p:cNvSpPr txBox="1"/>
          <p:nvPr/>
        </p:nvSpPr>
        <p:spPr>
          <a:xfrm>
            <a:off x="4963886" y="7423685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TurnCount</a:t>
            </a:r>
            <a:endParaRPr lang="ko-KR" altLang="en-US" sz="1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141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8"/>
          <p:cNvSpPr txBox="1">
            <a:spLocks noGrp="1"/>
          </p:cNvSpPr>
          <p:nvPr>
            <p:ph type="title"/>
          </p:nvPr>
        </p:nvSpPr>
        <p:spPr>
          <a:xfrm>
            <a:off x="838200" y="-54256"/>
            <a:ext cx="10515600" cy="173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74"/>
              <a:t>Specification Analysis</a:t>
            </a:r>
            <a:endParaRPr sz="6774"/>
          </a:p>
        </p:txBody>
      </p:sp>
      <p:sp>
        <p:nvSpPr>
          <p:cNvPr id="461" name="Google Shape;461;p38"/>
          <p:cNvSpPr txBox="1">
            <a:spLocks noGrp="1"/>
          </p:cNvSpPr>
          <p:nvPr>
            <p:ph type="body" idx="1"/>
          </p:nvPr>
        </p:nvSpPr>
        <p:spPr>
          <a:xfrm>
            <a:off x="381000" y="1553775"/>
            <a:ext cx="11364600" cy="717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전방에 장애물이 없으면 Cleaner Mode를 On으로 전환하고 직진한다. </a:t>
            </a:r>
            <a:br>
              <a:rPr lang="en-US" sz="2300"/>
            </a:br>
            <a:r>
              <a:rPr lang="en-US" sz="2300"/>
              <a:t>직진하는 동안 Dust Sensor가 먼지를 감지하면, </a:t>
            </a:r>
            <a:br>
              <a:rPr lang="en-US" sz="2300"/>
            </a:br>
            <a:r>
              <a:rPr lang="en-US" sz="2300"/>
              <a:t>Cleaner Mode를 Power up 모드로 전환하여 출력을 강화한다. </a:t>
            </a:r>
            <a:br>
              <a:rPr lang="en-US" sz="2300"/>
            </a:br>
            <a:r>
              <a:rPr lang="en-US" sz="2300"/>
              <a:t>전방에 Dust가 더이상 감지되지 않으면 Power up 모드를 On으로 전환한다</a:t>
            </a:r>
            <a:endParaRPr sz="2300"/>
          </a:p>
          <a:p>
            <a:pPr marL="0" lvl="0" indent="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전방에 장애물이 감지되어 기기가 직진을 할 수 없을 때에는 기기를 정지하고, </a:t>
            </a:r>
            <a:br>
              <a:rPr lang="en-US" sz="2300"/>
            </a:br>
            <a:r>
              <a:rPr lang="en-US" sz="2300"/>
              <a:t>Cleaner Mode를 Off로 전환하여 청소 동작을 일시적으로 정지시킨다. </a:t>
            </a:r>
            <a:br>
              <a:rPr lang="en-US" sz="2300"/>
            </a:br>
            <a:r>
              <a:rPr lang="en-US" sz="2300"/>
              <a:t>기기의 왼쪽과 오른쪽에 장애물이 있는지 센서를 Periodic하게 작동시켜 탐지한다.</a:t>
            </a:r>
            <a:endParaRPr sz="2300"/>
          </a:p>
          <a:p>
            <a:pPr marL="457200" lvl="0" indent="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왼쪽에 장애물이 감지되지 않는다면 기기를 제자리에서 왼쪽으로 90도 회전하며, </a:t>
            </a:r>
            <a:br>
              <a:rPr lang="en-US" sz="2300"/>
            </a:br>
            <a:r>
              <a:rPr lang="en-US" sz="2300"/>
              <a:t>오른쪽에 장애물이 감지되지 않는다면 기기를 제자리에서 오른쪽으로 90도 회전한다. </a:t>
            </a:r>
            <a:endParaRPr sz="2300"/>
          </a:p>
          <a:p>
            <a:pPr marL="0" lvl="0" indent="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양쪽 모두에 장애물이 감지되지 않는다면 왼쪽으로 회전한다.</a:t>
            </a:r>
            <a:endParaRPr sz="2300"/>
          </a:p>
          <a:p>
            <a:pPr marL="0" lvl="0" indent="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왼쪽과 오른쪽 모두 장애물이 감지되면, 기기를 제자리에서 왼쪽으로 180도 회전한다.</a:t>
            </a:r>
            <a:endParaRPr sz="2300"/>
          </a:p>
          <a:p>
            <a:pPr marL="457200" lvl="0" indent="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74650" algn="l" rtl="0">
              <a:lnSpc>
                <a:spcPct val="115000"/>
              </a:lnSpc>
              <a:spcBef>
                <a:spcPts val="1312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직진 동작 없이 회전 동작이 100회 이상 연속으로 발생할 경우, </a:t>
            </a:r>
            <a:br>
              <a:rPr lang="en-US" sz="2300"/>
            </a:br>
            <a:r>
              <a:rPr lang="en-US" sz="2300"/>
              <a:t>기기가 정상 작동하지 못하는 상황으로 판단하여 기기의 전원을 종료한다.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2366</Words>
  <Application>Microsoft Office PowerPoint</Application>
  <PresentationFormat>사용자 지정</PresentationFormat>
  <Paragraphs>604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Calibri</vt:lpstr>
      <vt:lpstr>Georgia</vt:lpstr>
      <vt:lpstr>Office Theme</vt:lpstr>
      <vt:lpstr>2024년도 2학기  소프트웨어 공학</vt:lpstr>
      <vt:lpstr>PowerPoint 프레젠테이션</vt:lpstr>
      <vt:lpstr>Event List</vt:lpstr>
      <vt:lpstr>PowerPoint 프레젠테이션</vt:lpstr>
      <vt:lpstr>DFD Level 0 -  Process Specification</vt:lpstr>
      <vt:lpstr>DFD Level 0 -  Data Dictionary</vt:lpstr>
      <vt:lpstr>PowerPoint 프레젠테이션</vt:lpstr>
      <vt:lpstr>DFD Level 1 -  Process Specification</vt:lpstr>
      <vt:lpstr>DFD Level 1 -  Data Dictionary</vt:lpstr>
      <vt:lpstr>PowerPoint 프레젠테이션</vt:lpstr>
      <vt:lpstr>PowerPoint 프레젠테이션</vt:lpstr>
      <vt:lpstr>DFD Level 2 -  Process Specification</vt:lpstr>
      <vt:lpstr>DFD Level 2 -  Process Specification</vt:lpstr>
      <vt:lpstr>DFD Level 2 -  Process Specification</vt:lpstr>
      <vt:lpstr>DFD Level 2 -  Process Specification</vt:lpstr>
      <vt:lpstr>DFD Level 2 -  Process Specification</vt:lpstr>
      <vt:lpstr>DFD Level 2 - Data Dictionary</vt:lpstr>
      <vt:lpstr>PowerPoint 프레젠테이션</vt:lpstr>
      <vt:lpstr>DFD Level 3 -  Process Specification</vt:lpstr>
      <vt:lpstr>DFD Level 3 -  Process Specification</vt:lpstr>
      <vt:lpstr>DFD Level 3 -  Process Specification</vt:lpstr>
      <vt:lpstr>DFD Level 3 -  Process Specification</vt:lpstr>
      <vt:lpstr>DFD Level 3 - Data Dictionary</vt:lpstr>
      <vt:lpstr>PowerPoint 프레젠테이션</vt:lpstr>
      <vt:lpstr>PowerPoint 프레젠테이션</vt:lpstr>
      <vt:lpstr>PowerPoint 프레젠테이션</vt:lpstr>
      <vt:lpstr>Specification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2024년도 2학기  소프트웨어 공학</dc:title>
  <dc:creator>정근녕</dc:creator>
  <cp:lastModifiedBy>근녕 정</cp:lastModifiedBy>
  <cp:revision>30</cp:revision>
  <dcterms:modified xsi:type="dcterms:W3CDTF">2024-11-25T00:21:34Z</dcterms:modified>
</cp:coreProperties>
</file>